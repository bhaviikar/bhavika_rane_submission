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
  </p:notesMasterIdLst>
  <p:sldIdLst>
    <p:sldId id="256" r:id="rId2"/>
    <p:sldId id="257" r:id="rId3"/>
    <p:sldId id="258" r:id="rId4"/>
    <p:sldId id="259" r:id="rId5"/>
    <p:sldId id="260" r:id="rId6"/>
  </p:sldIdLst>
  <p:sldSz cx="9144000" cy="5143500" type="screen16x9"/>
  <p:notesSz cx="6858000" cy="9144000"/>
  <p:embeddedFontLst>
    <p:embeddedFont>
      <p:font typeface="Google Sans" panose="020B0604020202020204" charset="0"/>
      <p:regular r:id="rId8"/>
      <p:bold r:id="rId9"/>
      <p:italic r:id="rId10"/>
      <p:boldItalic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946" y="403"/>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883C2F0E-2EC5-281C-2B30-20DC3C90C015}"/>
            </a:ext>
          </a:extLst>
        </p:cNvPr>
        <p:cNvGrpSpPr/>
        <p:nvPr/>
      </p:nvGrpSpPr>
      <p:grpSpPr>
        <a:xfrm>
          <a:off x="0" y="0"/>
          <a:ext cx="0" cy="0"/>
          <a:chOff x="0" y="0"/>
          <a:chExt cx="0" cy="0"/>
        </a:xfrm>
      </p:grpSpPr>
      <p:sp>
        <p:nvSpPr>
          <p:cNvPr id="51" name="Google Shape;51;p1:notes">
            <a:extLst>
              <a:ext uri="{FF2B5EF4-FFF2-40B4-BE49-F238E27FC236}">
                <a16:creationId xmlns:a16="http://schemas.microsoft.com/office/drawing/2014/main" id="{74BD5A0E-DB29-D846-FC2D-B336358C91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a:extLst>
              <a:ext uri="{FF2B5EF4-FFF2-40B4-BE49-F238E27FC236}">
                <a16:creationId xmlns:a16="http://schemas.microsoft.com/office/drawing/2014/main" id="{4068FB58-C889-4CF3-7A2C-0A89106E22D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59705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E9E4D83E-7C9C-3492-D383-C08A40EB0E5C}"/>
            </a:ext>
          </a:extLst>
        </p:cNvPr>
        <p:cNvGrpSpPr/>
        <p:nvPr/>
      </p:nvGrpSpPr>
      <p:grpSpPr>
        <a:xfrm>
          <a:off x="0" y="0"/>
          <a:ext cx="0" cy="0"/>
          <a:chOff x="0" y="0"/>
          <a:chExt cx="0" cy="0"/>
        </a:xfrm>
      </p:grpSpPr>
      <p:sp>
        <p:nvSpPr>
          <p:cNvPr id="51" name="Google Shape;51;p1:notes">
            <a:extLst>
              <a:ext uri="{FF2B5EF4-FFF2-40B4-BE49-F238E27FC236}">
                <a16:creationId xmlns:a16="http://schemas.microsoft.com/office/drawing/2014/main" id="{F70855DB-D6C6-AFC2-230C-E4DF9F19AA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a:extLst>
              <a:ext uri="{FF2B5EF4-FFF2-40B4-BE49-F238E27FC236}">
                <a16:creationId xmlns:a16="http://schemas.microsoft.com/office/drawing/2014/main" id="{A524F948-BB03-5B8A-3C94-3A4029515DE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5293645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3C07D0D0-49AA-B53B-91A8-FEC10388426C}"/>
            </a:ext>
          </a:extLst>
        </p:cNvPr>
        <p:cNvGrpSpPr/>
        <p:nvPr/>
      </p:nvGrpSpPr>
      <p:grpSpPr>
        <a:xfrm>
          <a:off x="0" y="0"/>
          <a:ext cx="0" cy="0"/>
          <a:chOff x="0" y="0"/>
          <a:chExt cx="0" cy="0"/>
        </a:xfrm>
      </p:grpSpPr>
      <p:sp>
        <p:nvSpPr>
          <p:cNvPr id="51" name="Google Shape;51;p1:notes">
            <a:extLst>
              <a:ext uri="{FF2B5EF4-FFF2-40B4-BE49-F238E27FC236}">
                <a16:creationId xmlns:a16="http://schemas.microsoft.com/office/drawing/2014/main" id="{0C51FDD6-D634-5ED2-F264-D71F7E777B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a:extLst>
              <a:ext uri="{FF2B5EF4-FFF2-40B4-BE49-F238E27FC236}">
                <a16:creationId xmlns:a16="http://schemas.microsoft.com/office/drawing/2014/main" id="{96C55AA7-6BCB-22A6-2925-8B19998B967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312618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B675F950-256F-A37B-FFB8-D9897C264D72}"/>
            </a:ext>
          </a:extLst>
        </p:cNvPr>
        <p:cNvGrpSpPr/>
        <p:nvPr/>
      </p:nvGrpSpPr>
      <p:grpSpPr>
        <a:xfrm>
          <a:off x="0" y="0"/>
          <a:ext cx="0" cy="0"/>
          <a:chOff x="0" y="0"/>
          <a:chExt cx="0" cy="0"/>
        </a:xfrm>
      </p:grpSpPr>
      <p:sp>
        <p:nvSpPr>
          <p:cNvPr id="51" name="Google Shape;51;p1:notes">
            <a:extLst>
              <a:ext uri="{FF2B5EF4-FFF2-40B4-BE49-F238E27FC236}">
                <a16:creationId xmlns:a16="http://schemas.microsoft.com/office/drawing/2014/main" id="{CB783DC1-D727-F9EF-A34C-DFF9417553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a:extLst>
              <a:ext uri="{FF2B5EF4-FFF2-40B4-BE49-F238E27FC236}">
                <a16:creationId xmlns:a16="http://schemas.microsoft.com/office/drawing/2014/main" id="{4679FF9B-9849-7C99-E6E3-983547EC4BA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26778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451525" y="461325"/>
            <a:ext cx="2758200" cy="2758200"/>
          </a:xfrm>
          <a:prstGeom prst="rect">
            <a:avLst/>
          </a:prstGeom>
          <a:solidFill>
            <a:schemeClr val="lt2"/>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Google Sans"/>
              <a:ea typeface="Google Sans"/>
              <a:cs typeface="Google Sans"/>
              <a:sym typeface="Google Sans"/>
            </a:endParaRPr>
          </a:p>
        </p:txBody>
      </p:sp>
      <p:sp>
        <p:nvSpPr>
          <p:cNvPr id="55" name="Google Shape;55;p13"/>
          <p:cNvSpPr txBox="1"/>
          <p:nvPr/>
        </p:nvSpPr>
        <p:spPr>
          <a:xfrm>
            <a:off x="451450" y="3219525"/>
            <a:ext cx="2758200" cy="471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sz="1900" b="1" i="0" u="none" strike="noStrike" cap="none" dirty="0">
                <a:solidFill>
                  <a:srgbClr val="1967D2"/>
                </a:solidFill>
                <a:latin typeface="Google Sans"/>
                <a:ea typeface="Google Sans"/>
                <a:cs typeface="Google Sans"/>
                <a:sym typeface="Google Sans"/>
              </a:rPr>
              <a:t>Ananya Roy</a:t>
            </a:r>
            <a:endParaRPr sz="1800" b="1" i="0" u="none" strike="noStrike" cap="none" dirty="0">
              <a:solidFill>
                <a:srgbClr val="1967D2"/>
              </a:solidFill>
              <a:latin typeface="Google Sans"/>
              <a:ea typeface="Google Sans"/>
              <a:cs typeface="Google Sans"/>
              <a:sym typeface="Google Sans"/>
            </a:endParaRPr>
          </a:p>
        </p:txBody>
      </p:sp>
      <p:sp>
        <p:nvSpPr>
          <p:cNvPr id="56" name="Google Shape;56;p13"/>
          <p:cNvSpPr txBox="1"/>
          <p:nvPr/>
        </p:nvSpPr>
        <p:spPr>
          <a:xfrm>
            <a:off x="323950" y="3614500"/>
            <a:ext cx="1501800" cy="12171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Google Sans"/>
                <a:ea typeface="Google Sans"/>
                <a:cs typeface="Google Sans"/>
                <a:sym typeface="Google Sans"/>
              </a:rPr>
              <a:t>Age: </a:t>
            </a:r>
            <a:endParaRPr sz="1400" b="1" i="0" u="none" strike="noStrike" cap="none" dirty="0">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Google Sans"/>
                <a:ea typeface="Google Sans"/>
                <a:cs typeface="Google Sans"/>
                <a:sym typeface="Google Sans"/>
              </a:rPr>
              <a:t>Education: </a:t>
            </a:r>
            <a:endParaRPr sz="1400" b="1" i="0" u="none" strike="noStrike" cap="none" dirty="0">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Google Sans"/>
                <a:ea typeface="Google Sans"/>
                <a:cs typeface="Google Sans"/>
                <a:sym typeface="Google Sans"/>
              </a:rPr>
              <a:t>Hometown: </a:t>
            </a:r>
            <a:endParaRPr sz="1400" b="1" i="0" u="none" strike="noStrike" cap="none" dirty="0">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Google Sans"/>
                <a:ea typeface="Google Sans"/>
                <a:cs typeface="Google Sans"/>
                <a:sym typeface="Google Sans"/>
              </a:rPr>
              <a:t>Family: </a:t>
            </a:r>
            <a:endParaRPr sz="1400" b="1" i="0" u="none" strike="noStrike" cap="none" dirty="0">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Google Sans"/>
                <a:ea typeface="Google Sans"/>
                <a:cs typeface="Google Sans"/>
                <a:sym typeface="Google Sans"/>
              </a:rPr>
              <a:t>Occuption:</a:t>
            </a:r>
            <a:endParaRPr sz="1400" b="1" i="0" u="none" strike="noStrike" cap="none" dirty="0">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endParaRPr sz="1400" b="1" i="0" u="none" strike="noStrike" cap="none" dirty="0">
              <a:solidFill>
                <a:srgbClr val="000000"/>
              </a:solidFill>
              <a:latin typeface="Google Sans"/>
              <a:ea typeface="Google Sans"/>
              <a:cs typeface="Google Sans"/>
              <a:sym typeface="Google Sans"/>
            </a:endParaRPr>
          </a:p>
        </p:txBody>
      </p:sp>
      <p:sp>
        <p:nvSpPr>
          <p:cNvPr id="57" name="Google Shape;57;p13"/>
          <p:cNvSpPr txBox="1"/>
          <p:nvPr/>
        </p:nvSpPr>
        <p:spPr>
          <a:xfrm>
            <a:off x="1707849" y="3614500"/>
            <a:ext cx="1943525" cy="121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IN" sz="1400" i="0" u="none" strike="noStrike" cap="none" dirty="0">
                <a:solidFill>
                  <a:srgbClr val="000000"/>
                </a:solidFill>
                <a:latin typeface="Google Sans"/>
                <a:ea typeface="Google Sans"/>
                <a:cs typeface="Google Sans"/>
                <a:sym typeface="Google Sans"/>
              </a:rPr>
              <a:t>21</a:t>
            </a:r>
          </a:p>
          <a:p>
            <a:pPr marL="0" marR="0" lvl="0" indent="0" algn="l" rtl="0">
              <a:lnSpc>
                <a:spcPct val="100000"/>
              </a:lnSpc>
              <a:spcBef>
                <a:spcPts val="0"/>
              </a:spcBef>
              <a:spcAft>
                <a:spcPts val="0"/>
              </a:spcAft>
              <a:buClr>
                <a:srgbClr val="000000"/>
              </a:buClr>
              <a:buSzPts val="1400"/>
              <a:buFont typeface="Arial"/>
              <a:buNone/>
            </a:pPr>
            <a:r>
              <a:rPr lang="en-IN" dirty="0">
                <a:latin typeface="Google Sans"/>
                <a:ea typeface="Google Sans"/>
                <a:cs typeface="Google Sans"/>
                <a:sym typeface="Google Sans"/>
              </a:rPr>
              <a:t>B.A. </a:t>
            </a:r>
          </a:p>
          <a:p>
            <a:pPr marL="0" marR="0" lvl="0" indent="0" algn="l" rtl="0">
              <a:lnSpc>
                <a:spcPct val="100000"/>
              </a:lnSpc>
              <a:spcBef>
                <a:spcPts val="0"/>
              </a:spcBef>
              <a:spcAft>
                <a:spcPts val="0"/>
              </a:spcAft>
              <a:buClr>
                <a:srgbClr val="000000"/>
              </a:buClr>
              <a:buSzPts val="1400"/>
              <a:buFont typeface="Arial"/>
              <a:buNone/>
            </a:pPr>
            <a:r>
              <a:rPr lang="en-IN" sz="1400" i="0" u="none" strike="noStrike" cap="none" dirty="0">
                <a:solidFill>
                  <a:srgbClr val="000000"/>
                </a:solidFill>
                <a:latin typeface="Google Sans"/>
                <a:ea typeface="Google Sans"/>
                <a:cs typeface="Google Sans"/>
                <a:sym typeface="Google Sans"/>
              </a:rPr>
              <a:t>D</a:t>
            </a:r>
            <a:r>
              <a:rPr lang="en-IN" dirty="0">
                <a:latin typeface="Google Sans"/>
                <a:ea typeface="Google Sans"/>
                <a:cs typeface="Google Sans"/>
                <a:sym typeface="Google Sans"/>
              </a:rPr>
              <a:t>elhi</a:t>
            </a:r>
          </a:p>
          <a:p>
            <a:pPr marL="0" marR="0" lvl="0" indent="0" algn="l" rtl="0">
              <a:lnSpc>
                <a:spcPct val="100000"/>
              </a:lnSpc>
              <a:spcBef>
                <a:spcPts val="0"/>
              </a:spcBef>
              <a:spcAft>
                <a:spcPts val="0"/>
              </a:spcAft>
              <a:buClr>
                <a:srgbClr val="000000"/>
              </a:buClr>
              <a:buSzPts val="1400"/>
              <a:buFont typeface="Arial"/>
              <a:buNone/>
            </a:pPr>
            <a:r>
              <a:rPr lang="en-IN" dirty="0">
                <a:latin typeface="Google Sans"/>
                <a:ea typeface="Google Sans"/>
                <a:cs typeface="Google Sans"/>
                <a:sym typeface="Google Sans"/>
              </a:rPr>
              <a:t>Lives with Roommate</a:t>
            </a:r>
          </a:p>
          <a:p>
            <a:pPr marL="0" marR="0" lvl="0" indent="0" algn="l" rtl="0">
              <a:lnSpc>
                <a:spcPct val="100000"/>
              </a:lnSpc>
              <a:spcBef>
                <a:spcPts val="0"/>
              </a:spcBef>
              <a:spcAft>
                <a:spcPts val="0"/>
              </a:spcAft>
              <a:buClr>
                <a:srgbClr val="000000"/>
              </a:buClr>
              <a:buSzPts val="1400"/>
              <a:buFont typeface="Arial"/>
              <a:buNone/>
            </a:pPr>
            <a:r>
              <a:rPr lang="en-IN" sz="1400" i="0" u="none" strike="noStrike" cap="none" dirty="0">
                <a:solidFill>
                  <a:srgbClr val="000000"/>
                </a:solidFill>
                <a:latin typeface="Google Sans"/>
                <a:ea typeface="Google Sans"/>
                <a:cs typeface="Google Sans"/>
                <a:sym typeface="Google Sans"/>
              </a:rPr>
              <a:t>Social Media content creator</a:t>
            </a:r>
            <a:endParaRPr sz="1400" i="0" u="none" strike="noStrike" cap="none" dirty="0">
              <a:solidFill>
                <a:srgbClr val="000000"/>
              </a:solidFill>
              <a:latin typeface="Google Sans"/>
              <a:ea typeface="Google Sans"/>
              <a:cs typeface="Google Sans"/>
              <a:sym typeface="Google Sans"/>
            </a:endParaRPr>
          </a:p>
        </p:txBody>
      </p:sp>
      <p:sp>
        <p:nvSpPr>
          <p:cNvPr id="58" name="Google Shape;58;p13"/>
          <p:cNvSpPr txBox="1"/>
          <p:nvPr/>
        </p:nvSpPr>
        <p:spPr>
          <a:xfrm>
            <a:off x="3651375" y="461325"/>
            <a:ext cx="5035800" cy="908700"/>
          </a:xfrm>
          <a:prstGeom prst="rect">
            <a:avLst/>
          </a:prstGeom>
          <a:noFill/>
          <a:ln>
            <a:noFill/>
          </a:ln>
        </p:spPr>
        <p:txBody>
          <a:bodyPr spcFirstLastPara="1" wrap="square" lIns="91425" tIns="91425" rIns="91425" bIns="91425" anchor="ctr" anchorCtr="0">
            <a:noAutofit/>
          </a:bodyPr>
          <a:lstStyle/>
          <a:p>
            <a:pPr lvl="0" algn="ctr">
              <a:buSzPts val="1800"/>
            </a:pPr>
            <a:r>
              <a:rPr lang="en-IN" sz="1800" dirty="0"/>
              <a:t>“</a:t>
            </a:r>
            <a:r>
              <a:rPr lang="en-IN" sz="1800" i="1" dirty="0"/>
              <a:t>If an app doesn’t show me what’s trending right now, I’m moving on to the next one.”</a:t>
            </a:r>
            <a:endParaRPr sz="1800" i="1" u="none" strike="noStrike" cap="none" dirty="0">
              <a:solidFill>
                <a:srgbClr val="000000"/>
              </a:solidFill>
              <a:latin typeface="Google Sans"/>
              <a:ea typeface="Google Sans"/>
              <a:cs typeface="Google Sans"/>
              <a:sym typeface="Google Sans"/>
            </a:endParaRPr>
          </a:p>
        </p:txBody>
      </p:sp>
      <p:sp>
        <p:nvSpPr>
          <p:cNvPr id="59" name="Google Shape;59;p13"/>
          <p:cNvSpPr txBox="1"/>
          <p:nvPr/>
        </p:nvSpPr>
        <p:spPr>
          <a:xfrm>
            <a:off x="3651375" y="1442025"/>
            <a:ext cx="2598900" cy="2097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900"/>
              <a:buFont typeface="Arial"/>
              <a:buNone/>
            </a:pPr>
            <a:r>
              <a:rPr lang="en" sz="1900" b="1" i="0" u="none" strike="noStrike" cap="none" dirty="0">
                <a:solidFill>
                  <a:srgbClr val="196702"/>
                </a:solidFill>
                <a:latin typeface="Google Sans"/>
                <a:ea typeface="Google Sans"/>
                <a:cs typeface="Google Sans"/>
                <a:sym typeface="Google Sans"/>
              </a:rPr>
              <a:t>Goals</a:t>
            </a:r>
            <a:r>
              <a:rPr lang="en" sz="1800" i="0" u="none" strike="noStrike" cap="none" dirty="0">
                <a:solidFill>
                  <a:srgbClr val="000000"/>
                </a:solidFill>
                <a:latin typeface="Google Sans"/>
                <a:ea typeface="Google Sans"/>
                <a:cs typeface="Google Sans"/>
                <a:sym typeface="Google Sans"/>
              </a:rPr>
              <a:t> </a:t>
            </a:r>
            <a:endParaRPr lang="en" sz="1800" dirty="0">
              <a:latin typeface="Google Sans"/>
              <a:ea typeface="Google Sans"/>
              <a:cs typeface="Google Sans"/>
              <a:sym typeface="Google Sans"/>
            </a:endParaRPr>
          </a:p>
          <a:p>
            <a:pPr marL="171450" lvl="0" indent="-171450">
              <a:buFont typeface="Arial" panose="020B0604020202020204" pitchFamily="34" charset="0"/>
              <a:buChar char="•"/>
            </a:pPr>
            <a:r>
              <a:rPr lang="en-IN" sz="1100" dirty="0"/>
              <a:t>Discover micro-trends early before items sell out.</a:t>
            </a:r>
          </a:p>
          <a:p>
            <a:pPr marL="171450" lvl="0" indent="-171450">
              <a:buFont typeface="Arial" panose="020B0604020202020204" pitchFamily="34" charset="0"/>
              <a:buChar char="•"/>
            </a:pPr>
            <a:r>
              <a:rPr lang="en-IN" sz="1100" dirty="0"/>
              <a:t>Find aesthetic, curated outfits for content creation without overspending.</a:t>
            </a:r>
          </a:p>
          <a:p>
            <a:pPr marL="171450" lvl="0" indent="-171450">
              <a:buFont typeface="Arial" panose="020B0604020202020204" pitchFamily="34" charset="0"/>
              <a:buChar char="•"/>
            </a:pPr>
            <a:r>
              <a:rPr lang="en-IN" sz="1100" dirty="0"/>
              <a:t>Track international shipments and delivery updates easily.</a:t>
            </a:r>
          </a:p>
          <a:p>
            <a:pPr marL="171450" lvl="0" indent="-171450">
              <a:buFont typeface="Arial" panose="020B0604020202020204" pitchFamily="34" charset="0"/>
              <a:buChar char="•"/>
            </a:pPr>
            <a:r>
              <a:rPr lang="en-IN" sz="1100" dirty="0"/>
              <a:t>Browse visually engaging feeds with style-based recommendations.</a:t>
            </a:r>
            <a:endParaRPr lang="en" sz="1100" dirty="0">
              <a:latin typeface="Google Sans"/>
              <a:ea typeface="Google Sans"/>
              <a:cs typeface="Google Sans"/>
              <a:sym typeface="Google Sans"/>
            </a:endParaRPr>
          </a:p>
          <a:p>
            <a:pPr marL="139700" marR="0" lvl="0" algn="l" rtl="0">
              <a:lnSpc>
                <a:spcPct val="100000"/>
              </a:lnSpc>
              <a:spcBef>
                <a:spcPts val="0"/>
              </a:spcBef>
              <a:spcAft>
                <a:spcPts val="0"/>
              </a:spcAft>
              <a:buClr>
                <a:srgbClr val="000000"/>
              </a:buClr>
              <a:buSzPts val="1400"/>
            </a:pPr>
            <a:r>
              <a:rPr lang="en" sz="1100" i="0" u="none" strike="noStrike" cap="none" dirty="0">
                <a:solidFill>
                  <a:srgbClr val="000000"/>
                </a:solidFill>
                <a:latin typeface="Google Sans"/>
                <a:ea typeface="Google Sans"/>
                <a:cs typeface="Google Sans"/>
                <a:sym typeface="Google Sans"/>
              </a:rPr>
              <a:t>  </a:t>
            </a:r>
            <a:endParaRPr sz="1100" i="0" u="none" strike="noStrike" cap="none" dirty="0">
              <a:solidFill>
                <a:srgbClr val="000000"/>
              </a:solidFill>
              <a:latin typeface="Google Sans"/>
              <a:ea typeface="Google Sans"/>
              <a:cs typeface="Google Sans"/>
              <a:sym typeface="Google Sans"/>
            </a:endParaRPr>
          </a:p>
        </p:txBody>
      </p:sp>
      <p:sp>
        <p:nvSpPr>
          <p:cNvPr id="60" name="Google Shape;60;p13"/>
          <p:cNvSpPr txBox="1"/>
          <p:nvPr/>
        </p:nvSpPr>
        <p:spPr>
          <a:xfrm>
            <a:off x="6250275" y="1512762"/>
            <a:ext cx="25227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900" b="1" i="0" u="none" strike="noStrike" cap="none" dirty="0">
                <a:solidFill>
                  <a:srgbClr val="C5221F"/>
                </a:solidFill>
                <a:latin typeface="Google Sans"/>
                <a:ea typeface="Google Sans"/>
                <a:cs typeface="Google Sans"/>
                <a:sym typeface="Google Sans"/>
              </a:rPr>
              <a:t>Frustrations</a:t>
            </a:r>
            <a:r>
              <a:rPr lang="en" sz="1800" b="1" i="0" u="none" strike="noStrike" cap="none" dirty="0">
                <a:solidFill>
                  <a:schemeClr val="dk1"/>
                </a:solidFill>
                <a:latin typeface="Google Sans"/>
                <a:ea typeface="Google Sans"/>
                <a:cs typeface="Google Sans"/>
                <a:sym typeface="Google Sans"/>
              </a:rPr>
              <a:t> </a:t>
            </a:r>
            <a:endParaRPr lang="en" sz="1800" b="1" dirty="0">
              <a:solidFill>
                <a:schemeClr val="dk1"/>
              </a:solidFill>
              <a:latin typeface="Google Sans"/>
              <a:ea typeface="Google Sans"/>
              <a:cs typeface="Google Sans"/>
              <a:sym typeface="Google Sans"/>
            </a:endParaRPr>
          </a:p>
          <a:p>
            <a:pPr marL="171450" lvl="0" indent="-171450">
              <a:buFont typeface="Arial" panose="020B0604020202020204" pitchFamily="34" charset="0"/>
              <a:buChar char="•"/>
            </a:pPr>
            <a:r>
              <a:rPr lang="en-IN" sz="1100" dirty="0"/>
              <a:t>Lack of user review photos to evaluate fit and material quality.</a:t>
            </a:r>
          </a:p>
          <a:p>
            <a:pPr marL="171450" lvl="0" indent="-171450">
              <a:buFont typeface="Arial" panose="020B0604020202020204" pitchFamily="34" charset="0"/>
              <a:buChar char="•"/>
            </a:pPr>
            <a:r>
              <a:rPr lang="en-IN" sz="1100" dirty="0"/>
              <a:t>Unpredictable or delayed delivery timelines on trending items.</a:t>
            </a:r>
          </a:p>
          <a:p>
            <a:pPr marL="171450" lvl="0" indent="-171450">
              <a:buFont typeface="Arial" panose="020B0604020202020204" pitchFamily="34" charset="0"/>
              <a:buChar char="•"/>
            </a:pPr>
            <a:r>
              <a:rPr lang="en-IN" sz="1100" dirty="0"/>
              <a:t>Complicated return processes for international products.</a:t>
            </a:r>
          </a:p>
          <a:p>
            <a:pPr marL="171450" lvl="0" indent="-171450">
              <a:buFont typeface="Arial" panose="020B0604020202020204" pitchFamily="34" charset="0"/>
              <a:buChar char="•"/>
            </a:pPr>
            <a:r>
              <a:rPr lang="en-IN" sz="1100" dirty="0"/>
              <a:t>App lag during heavy visual feed scrolling.</a:t>
            </a:r>
          </a:p>
        </p:txBody>
      </p:sp>
      <p:sp>
        <p:nvSpPr>
          <p:cNvPr id="61" name="Google Shape;61;p13"/>
          <p:cNvSpPr txBox="1"/>
          <p:nvPr/>
        </p:nvSpPr>
        <p:spPr>
          <a:xfrm>
            <a:off x="3651375" y="3589300"/>
            <a:ext cx="5197800" cy="1242300"/>
          </a:xfrm>
          <a:prstGeom prst="rect">
            <a:avLst/>
          </a:prstGeom>
          <a:noFill/>
          <a:ln w="28575" cap="flat" cmpd="sng">
            <a:solidFill>
              <a:srgbClr val="FFD966"/>
            </a:solidFill>
            <a:prstDash val="solid"/>
            <a:round/>
            <a:headEnd type="none" w="sm" len="sm"/>
            <a:tailEnd type="none" w="sm" len="sm"/>
          </a:ln>
        </p:spPr>
        <p:txBody>
          <a:bodyPr spcFirstLastPara="1" wrap="square" lIns="91425" tIns="91425" rIns="91425" bIns="91425" anchor="t" anchorCtr="0">
            <a:noAutofit/>
          </a:bodyPr>
          <a:lstStyle/>
          <a:p>
            <a:pPr lvl="0">
              <a:buSzPts val="1400"/>
            </a:pPr>
            <a:r>
              <a:rPr lang="en-IN" sz="1100" dirty="0"/>
              <a:t>Ananya shops frequently to stay ahead of fast-fashion trends for her social media feeds. She relies heavily on visual discovery platforms like Savana to curate aesthetic outfits on a budget. She prefers seamless image browsing, trend-focused categories, and quick order updates. However, sparse user reviews with photos make sizing unpredictable, and shipping delays heavily frustrate her tight content schedules.</a:t>
            </a:r>
            <a:endParaRPr sz="1100" i="0" u="none" strike="noStrike" cap="none" dirty="0">
              <a:solidFill>
                <a:srgbClr val="000000"/>
              </a:solidFill>
              <a:latin typeface="Google Sans"/>
              <a:ea typeface="Google Sans"/>
              <a:cs typeface="Google Sans"/>
              <a:sym typeface="Google Sans"/>
            </a:endParaRPr>
          </a:p>
        </p:txBody>
      </p:sp>
      <p:sp>
        <p:nvSpPr>
          <p:cNvPr id="62" name="Google Shape;62;p13"/>
          <p:cNvSpPr txBox="1"/>
          <p:nvPr/>
        </p:nvSpPr>
        <p:spPr>
          <a:xfrm>
            <a:off x="985225" y="1442025"/>
            <a:ext cx="1666200" cy="79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100" dirty="0">
              <a:latin typeface="Google Sans"/>
              <a:ea typeface="Google Sans"/>
              <a:cs typeface="Google Sans"/>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88D135B7-6B1E-081E-7346-5DDC5F6C0DC0}"/>
            </a:ext>
          </a:extLst>
        </p:cNvPr>
        <p:cNvGrpSpPr/>
        <p:nvPr/>
      </p:nvGrpSpPr>
      <p:grpSpPr>
        <a:xfrm>
          <a:off x="0" y="0"/>
          <a:ext cx="0" cy="0"/>
          <a:chOff x="0" y="0"/>
          <a:chExt cx="0" cy="0"/>
        </a:xfrm>
      </p:grpSpPr>
      <p:sp>
        <p:nvSpPr>
          <p:cNvPr id="54" name="Google Shape;54;p13">
            <a:extLst>
              <a:ext uri="{FF2B5EF4-FFF2-40B4-BE49-F238E27FC236}">
                <a16:creationId xmlns:a16="http://schemas.microsoft.com/office/drawing/2014/main" id="{25C0F624-1C38-3F6C-85ED-E7FCD90E3251}"/>
              </a:ext>
            </a:extLst>
          </p:cNvPr>
          <p:cNvSpPr/>
          <p:nvPr/>
        </p:nvSpPr>
        <p:spPr>
          <a:xfrm>
            <a:off x="451525" y="461325"/>
            <a:ext cx="2758200" cy="2758200"/>
          </a:xfrm>
          <a:prstGeom prst="rect">
            <a:avLst/>
          </a:prstGeom>
          <a:solidFill>
            <a:schemeClr val="lt2"/>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Google Sans"/>
              <a:ea typeface="Google Sans"/>
              <a:cs typeface="Google Sans"/>
              <a:sym typeface="Google Sans"/>
            </a:endParaRPr>
          </a:p>
        </p:txBody>
      </p:sp>
      <p:sp>
        <p:nvSpPr>
          <p:cNvPr id="55" name="Google Shape;55;p13">
            <a:extLst>
              <a:ext uri="{FF2B5EF4-FFF2-40B4-BE49-F238E27FC236}">
                <a16:creationId xmlns:a16="http://schemas.microsoft.com/office/drawing/2014/main" id="{5744A235-6E1C-DFC5-6D9A-FDA8DD5F99C4}"/>
              </a:ext>
            </a:extLst>
          </p:cNvPr>
          <p:cNvSpPr txBox="1"/>
          <p:nvPr/>
        </p:nvSpPr>
        <p:spPr>
          <a:xfrm>
            <a:off x="451450" y="3219525"/>
            <a:ext cx="2758200" cy="471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sz="1900" b="1" dirty="0">
                <a:solidFill>
                  <a:srgbClr val="1967D2"/>
                </a:solidFill>
                <a:latin typeface="Google Sans"/>
                <a:ea typeface="Google Sans"/>
                <a:cs typeface="Google Sans"/>
                <a:sym typeface="Google Sans"/>
              </a:rPr>
              <a:t> Vikram Sen</a:t>
            </a:r>
            <a:endParaRPr sz="1800" b="1" i="0" u="none" strike="noStrike" cap="none" dirty="0">
              <a:solidFill>
                <a:srgbClr val="1967D2"/>
              </a:solidFill>
              <a:latin typeface="Google Sans"/>
              <a:ea typeface="Google Sans"/>
              <a:cs typeface="Google Sans"/>
              <a:sym typeface="Google Sans"/>
            </a:endParaRPr>
          </a:p>
        </p:txBody>
      </p:sp>
      <p:sp>
        <p:nvSpPr>
          <p:cNvPr id="56" name="Google Shape;56;p13">
            <a:extLst>
              <a:ext uri="{FF2B5EF4-FFF2-40B4-BE49-F238E27FC236}">
                <a16:creationId xmlns:a16="http://schemas.microsoft.com/office/drawing/2014/main" id="{1A65F9B2-B28F-A125-A9C2-1302DF26F61B}"/>
              </a:ext>
            </a:extLst>
          </p:cNvPr>
          <p:cNvSpPr txBox="1"/>
          <p:nvPr/>
        </p:nvSpPr>
        <p:spPr>
          <a:xfrm>
            <a:off x="323950" y="3614500"/>
            <a:ext cx="1501800" cy="12171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Age: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Education: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Hometown: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Family: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Occupation:</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Google Sans"/>
              <a:ea typeface="Google Sans"/>
              <a:cs typeface="Google Sans"/>
              <a:sym typeface="Google Sans"/>
            </a:endParaRPr>
          </a:p>
        </p:txBody>
      </p:sp>
      <p:sp>
        <p:nvSpPr>
          <p:cNvPr id="57" name="Google Shape;57;p13">
            <a:extLst>
              <a:ext uri="{FF2B5EF4-FFF2-40B4-BE49-F238E27FC236}">
                <a16:creationId xmlns:a16="http://schemas.microsoft.com/office/drawing/2014/main" id="{C4B91F90-470F-05E7-BD7A-021B43C7E9BC}"/>
              </a:ext>
            </a:extLst>
          </p:cNvPr>
          <p:cNvSpPr txBox="1"/>
          <p:nvPr/>
        </p:nvSpPr>
        <p:spPr>
          <a:xfrm>
            <a:off x="1707850" y="3614500"/>
            <a:ext cx="1817400" cy="121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IN" sz="1400" i="0" u="none" strike="noStrike" cap="none" dirty="0">
                <a:solidFill>
                  <a:srgbClr val="000000"/>
                </a:solidFill>
                <a:latin typeface="Google Sans"/>
                <a:ea typeface="Google Sans"/>
                <a:cs typeface="Google Sans"/>
                <a:sym typeface="Google Sans"/>
              </a:rPr>
              <a:t>32</a:t>
            </a:r>
          </a:p>
          <a:p>
            <a:pPr marL="0" marR="0" lvl="0" indent="0" algn="l" rtl="0">
              <a:lnSpc>
                <a:spcPct val="100000"/>
              </a:lnSpc>
              <a:spcBef>
                <a:spcPts val="0"/>
              </a:spcBef>
              <a:spcAft>
                <a:spcPts val="0"/>
              </a:spcAft>
              <a:buClr>
                <a:srgbClr val="000000"/>
              </a:buClr>
              <a:buSzPts val="1400"/>
              <a:buFont typeface="Arial"/>
              <a:buNone/>
            </a:pPr>
            <a:r>
              <a:rPr lang="en-IN" sz="1400" i="0" u="none" strike="noStrike" cap="none" dirty="0">
                <a:solidFill>
                  <a:srgbClr val="000000"/>
                </a:solidFill>
                <a:latin typeface="Google Sans"/>
                <a:ea typeface="Google Sans"/>
                <a:cs typeface="Google Sans"/>
                <a:sym typeface="Google Sans"/>
              </a:rPr>
              <a:t>MBA marketing</a:t>
            </a:r>
          </a:p>
          <a:p>
            <a:pPr marL="0" marR="0" lvl="0" indent="0" algn="l" rtl="0">
              <a:lnSpc>
                <a:spcPct val="100000"/>
              </a:lnSpc>
              <a:spcBef>
                <a:spcPts val="0"/>
              </a:spcBef>
              <a:spcAft>
                <a:spcPts val="0"/>
              </a:spcAft>
              <a:buClr>
                <a:srgbClr val="000000"/>
              </a:buClr>
              <a:buSzPts val="1400"/>
              <a:buFont typeface="Arial"/>
              <a:buNone/>
            </a:pPr>
            <a:r>
              <a:rPr lang="en-IN" dirty="0">
                <a:latin typeface="Google Sans"/>
                <a:ea typeface="Google Sans"/>
                <a:cs typeface="Google Sans"/>
                <a:sym typeface="Google Sans"/>
              </a:rPr>
              <a:t>Bengaluru</a:t>
            </a:r>
          </a:p>
          <a:p>
            <a:pPr marL="0" marR="0" lvl="0" indent="0" algn="l" rtl="0">
              <a:lnSpc>
                <a:spcPct val="100000"/>
              </a:lnSpc>
              <a:spcBef>
                <a:spcPts val="0"/>
              </a:spcBef>
              <a:spcAft>
                <a:spcPts val="0"/>
              </a:spcAft>
              <a:buClr>
                <a:srgbClr val="000000"/>
              </a:buClr>
              <a:buSzPts val="1400"/>
              <a:buFont typeface="Arial"/>
              <a:buNone/>
            </a:pPr>
            <a:r>
              <a:rPr lang="en-IN" dirty="0">
                <a:latin typeface="Google Sans"/>
                <a:ea typeface="Google Sans"/>
                <a:cs typeface="Google Sans"/>
                <a:sym typeface="Google Sans"/>
              </a:rPr>
              <a:t>Married</a:t>
            </a:r>
          </a:p>
          <a:p>
            <a:pPr marL="0" marR="0" lvl="0" indent="0" algn="l" rtl="0">
              <a:lnSpc>
                <a:spcPct val="100000"/>
              </a:lnSpc>
              <a:spcBef>
                <a:spcPts val="0"/>
              </a:spcBef>
              <a:spcAft>
                <a:spcPts val="0"/>
              </a:spcAft>
              <a:buClr>
                <a:srgbClr val="000000"/>
              </a:buClr>
              <a:buSzPts val="1400"/>
              <a:buFont typeface="Arial"/>
              <a:buNone/>
            </a:pPr>
            <a:r>
              <a:rPr lang="en-IN" dirty="0">
                <a:latin typeface="Google Sans"/>
                <a:ea typeface="Google Sans"/>
                <a:cs typeface="Google Sans"/>
                <a:sym typeface="Google Sans"/>
              </a:rPr>
              <a:t>Product Marketing Manager</a:t>
            </a:r>
          </a:p>
        </p:txBody>
      </p:sp>
      <p:sp>
        <p:nvSpPr>
          <p:cNvPr id="58" name="Google Shape;58;p13">
            <a:extLst>
              <a:ext uri="{FF2B5EF4-FFF2-40B4-BE49-F238E27FC236}">
                <a16:creationId xmlns:a16="http://schemas.microsoft.com/office/drawing/2014/main" id="{07A8B5F7-C4E9-9AF9-10FA-82D3CFF7891A}"/>
              </a:ext>
            </a:extLst>
          </p:cNvPr>
          <p:cNvSpPr txBox="1"/>
          <p:nvPr/>
        </p:nvSpPr>
        <p:spPr>
          <a:xfrm>
            <a:off x="3656675" y="353425"/>
            <a:ext cx="5035800" cy="908700"/>
          </a:xfrm>
          <a:prstGeom prst="rect">
            <a:avLst/>
          </a:prstGeom>
          <a:noFill/>
          <a:ln>
            <a:noFill/>
          </a:ln>
        </p:spPr>
        <p:txBody>
          <a:bodyPr spcFirstLastPara="1" wrap="square" lIns="91425" tIns="91425" rIns="91425" bIns="91425" anchor="ctr" anchorCtr="0">
            <a:noAutofit/>
          </a:bodyPr>
          <a:lstStyle/>
          <a:p>
            <a:pPr lvl="0" algn="ctr">
              <a:buSzPts val="1800"/>
            </a:pPr>
            <a:r>
              <a:rPr lang="en-IN" sz="1800" dirty="0"/>
              <a:t>“</a:t>
            </a:r>
            <a:r>
              <a:rPr lang="en-IN" sz="1800" i="1" dirty="0"/>
              <a:t>I don’t want to wade through flash sales; I just want quality clothes delivered fast.”</a:t>
            </a:r>
            <a:endParaRPr sz="1800" i="1" u="none" strike="noStrike" cap="none" dirty="0">
              <a:solidFill>
                <a:srgbClr val="000000"/>
              </a:solidFill>
              <a:latin typeface="Google Sans"/>
              <a:ea typeface="Google Sans"/>
              <a:cs typeface="Google Sans"/>
              <a:sym typeface="Google Sans"/>
            </a:endParaRPr>
          </a:p>
        </p:txBody>
      </p:sp>
      <p:sp>
        <p:nvSpPr>
          <p:cNvPr id="59" name="Google Shape;59;p13">
            <a:extLst>
              <a:ext uri="{FF2B5EF4-FFF2-40B4-BE49-F238E27FC236}">
                <a16:creationId xmlns:a16="http://schemas.microsoft.com/office/drawing/2014/main" id="{8D81A527-749E-0B88-E750-7946F84D916D}"/>
              </a:ext>
            </a:extLst>
          </p:cNvPr>
          <p:cNvSpPr txBox="1"/>
          <p:nvPr/>
        </p:nvSpPr>
        <p:spPr>
          <a:xfrm>
            <a:off x="3651375" y="1492000"/>
            <a:ext cx="25227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900"/>
              <a:buFont typeface="Arial"/>
              <a:buNone/>
            </a:pPr>
            <a:r>
              <a:rPr lang="en" sz="1900" b="1" i="0" u="none" strike="noStrike" cap="none" dirty="0">
                <a:solidFill>
                  <a:srgbClr val="196702"/>
                </a:solidFill>
                <a:latin typeface="Google Sans"/>
                <a:ea typeface="Google Sans"/>
                <a:cs typeface="Google Sans"/>
                <a:sym typeface="Google Sans"/>
              </a:rPr>
              <a:t>Goals</a:t>
            </a:r>
            <a:r>
              <a:rPr lang="en" sz="1800" i="0" u="none" strike="noStrike" cap="none" dirty="0">
                <a:solidFill>
                  <a:srgbClr val="000000"/>
                </a:solidFill>
                <a:latin typeface="Google Sans"/>
                <a:ea typeface="Google Sans"/>
                <a:cs typeface="Google Sans"/>
                <a:sym typeface="Google Sans"/>
              </a:rPr>
              <a:t> </a:t>
            </a:r>
            <a:endParaRPr sz="1800" i="0" u="none" strike="noStrike" cap="none" dirty="0">
              <a:solidFill>
                <a:srgbClr val="000000"/>
              </a:solidFill>
              <a:latin typeface="Google Sans"/>
              <a:ea typeface="Google Sans"/>
              <a:cs typeface="Google Sans"/>
              <a:sym typeface="Google Sans"/>
            </a:endParaRPr>
          </a:p>
          <a:p>
            <a:pPr marL="171450" lvl="0" indent="-171450">
              <a:buFont typeface="Arial" panose="020B0604020202020204" pitchFamily="34" charset="0"/>
              <a:buChar char="•"/>
            </a:pPr>
            <a:r>
              <a:rPr lang="en-IN" sz="1100" dirty="0"/>
              <a:t>Purchase authentic, high-quality formal and smart-casual wear efficiently.</a:t>
            </a:r>
          </a:p>
          <a:p>
            <a:pPr marL="171450" lvl="0" indent="-171450">
              <a:buFont typeface="Arial" panose="020B0604020202020204" pitchFamily="34" charset="0"/>
              <a:buChar char="•"/>
            </a:pPr>
            <a:r>
              <a:rPr lang="en-IN" sz="1100" dirty="0"/>
              <a:t>Filter search results strictly by specific brand, fabric, fit, and price.</a:t>
            </a:r>
          </a:p>
          <a:p>
            <a:pPr marL="171450" lvl="0" indent="-171450">
              <a:buFont typeface="Arial" panose="020B0604020202020204" pitchFamily="34" charset="0"/>
              <a:buChar char="•"/>
            </a:pPr>
            <a:r>
              <a:rPr lang="en-IN" sz="1100" dirty="0"/>
              <a:t>Complete purchases with minimal clicks and fast doorstep delivery.</a:t>
            </a:r>
          </a:p>
          <a:p>
            <a:pPr marL="171450" lvl="0" indent="-171450">
              <a:buFont typeface="Arial" panose="020B0604020202020204" pitchFamily="34" charset="0"/>
              <a:buChar char="•"/>
            </a:pPr>
            <a:r>
              <a:rPr lang="en-IN" sz="1100" dirty="0"/>
              <a:t>Process hassle-free size exchanges when needed.</a:t>
            </a:r>
            <a:r>
              <a:rPr lang="en" sz="1100" i="0" u="none" strike="noStrike" cap="none" dirty="0">
                <a:solidFill>
                  <a:srgbClr val="000000"/>
                </a:solidFill>
                <a:latin typeface="Google Sans"/>
                <a:ea typeface="Google Sans"/>
                <a:cs typeface="Google Sans"/>
                <a:sym typeface="Google Sans"/>
              </a:rPr>
              <a:t>  </a:t>
            </a:r>
            <a:endParaRPr sz="1100" i="0" u="none" strike="noStrike" cap="none" dirty="0">
              <a:solidFill>
                <a:srgbClr val="000000"/>
              </a:solidFill>
              <a:latin typeface="Google Sans"/>
              <a:ea typeface="Google Sans"/>
              <a:cs typeface="Google Sans"/>
              <a:sym typeface="Google Sans"/>
            </a:endParaRPr>
          </a:p>
        </p:txBody>
      </p:sp>
      <p:sp>
        <p:nvSpPr>
          <p:cNvPr id="60" name="Google Shape;60;p13">
            <a:extLst>
              <a:ext uri="{FF2B5EF4-FFF2-40B4-BE49-F238E27FC236}">
                <a16:creationId xmlns:a16="http://schemas.microsoft.com/office/drawing/2014/main" id="{5A8C55DE-EFD7-28B3-3BB8-B42861CFC7D9}"/>
              </a:ext>
            </a:extLst>
          </p:cNvPr>
          <p:cNvSpPr txBox="1"/>
          <p:nvPr/>
        </p:nvSpPr>
        <p:spPr>
          <a:xfrm>
            <a:off x="6174075" y="1492000"/>
            <a:ext cx="26751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900" b="1" i="0" u="none" strike="noStrike" cap="none" dirty="0">
                <a:solidFill>
                  <a:srgbClr val="C5221F"/>
                </a:solidFill>
                <a:latin typeface="Google Sans"/>
                <a:ea typeface="Google Sans"/>
                <a:cs typeface="Google Sans"/>
                <a:sym typeface="Google Sans"/>
              </a:rPr>
              <a:t>Frustrations</a:t>
            </a:r>
            <a:r>
              <a:rPr lang="en" sz="1800" b="1" i="0" u="none" strike="noStrike" cap="none" dirty="0">
                <a:solidFill>
                  <a:schemeClr val="dk1"/>
                </a:solidFill>
                <a:latin typeface="Google Sans"/>
                <a:ea typeface="Google Sans"/>
                <a:cs typeface="Google Sans"/>
                <a:sym typeface="Google Sans"/>
              </a:rPr>
              <a:t> </a:t>
            </a:r>
          </a:p>
          <a:p>
            <a:pPr marL="171450" lvl="0" indent="-171450">
              <a:buFont typeface="Arial" panose="020B0604020202020204" pitchFamily="34" charset="0"/>
              <a:buChar char="•"/>
            </a:pPr>
            <a:r>
              <a:rPr lang="en-IN" sz="1100" dirty="0"/>
              <a:t>Cluttered homepages packed with flashing banners and aggressive promotional pop-ups.</a:t>
            </a:r>
          </a:p>
          <a:p>
            <a:pPr marL="171450" lvl="0" indent="-171450">
              <a:buFont typeface="Arial" panose="020B0604020202020204" pitchFamily="34" charset="0"/>
              <a:buChar char="•"/>
            </a:pPr>
            <a:r>
              <a:rPr lang="en-IN" sz="1100" dirty="0"/>
              <a:t>Opaque coupon systems that fail or carry hidden restrictions at checkout.</a:t>
            </a:r>
          </a:p>
          <a:p>
            <a:pPr marL="171450" lvl="0" indent="-171450">
              <a:buFont typeface="Arial" panose="020B0604020202020204" pitchFamily="34" charset="0"/>
              <a:buChar char="•"/>
            </a:pPr>
            <a:r>
              <a:rPr lang="en-IN" sz="1100" dirty="0"/>
              <a:t>Irrelevant recommendations for low-cost, fast-fashion items.</a:t>
            </a:r>
          </a:p>
          <a:p>
            <a:pPr marL="171450" lvl="0" indent="-171450">
              <a:buFont typeface="Arial" panose="020B0604020202020204" pitchFamily="34" charset="0"/>
              <a:buChar char="•"/>
            </a:pPr>
            <a:r>
              <a:rPr lang="en-IN" sz="1100" dirty="0"/>
              <a:t>Complex navigation menus when trying to access premium brand categories.</a:t>
            </a:r>
          </a:p>
          <a:p>
            <a:pPr marL="285750" marR="0" lvl="0" indent="-285750" algn="l" rtl="0">
              <a:lnSpc>
                <a:spcPct val="100000"/>
              </a:lnSpc>
              <a:spcBef>
                <a:spcPts val="0"/>
              </a:spcBef>
              <a:spcAft>
                <a:spcPts val="0"/>
              </a:spcAft>
              <a:buClr>
                <a:schemeClr val="dk1"/>
              </a:buClr>
              <a:buSzPts val="1100"/>
              <a:buFont typeface="Arial" panose="020B0604020202020204" pitchFamily="34" charset="0"/>
              <a:buChar char="•"/>
            </a:pPr>
            <a:endParaRPr sz="1800" b="1" i="0" u="none" strike="noStrike" cap="none" dirty="0">
              <a:solidFill>
                <a:schemeClr val="dk1"/>
              </a:solidFill>
              <a:latin typeface="Google Sans"/>
              <a:ea typeface="Google Sans"/>
              <a:cs typeface="Google Sans"/>
              <a:sym typeface="Google Sans"/>
            </a:endParaRPr>
          </a:p>
        </p:txBody>
      </p:sp>
      <p:sp>
        <p:nvSpPr>
          <p:cNvPr id="61" name="Google Shape;61;p13">
            <a:extLst>
              <a:ext uri="{FF2B5EF4-FFF2-40B4-BE49-F238E27FC236}">
                <a16:creationId xmlns:a16="http://schemas.microsoft.com/office/drawing/2014/main" id="{0D973556-D632-4043-4BD0-4161AD6E88B7}"/>
              </a:ext>
            </a:extLst>
          </p:cNvPr>
          <p:cNvSpPr txBox="1"/>
          <p:nvPr/>
        </p:nvSpPr>
        <p:spPr>
          <a:xfrm>
            <a:off x="3651375" y="3547775"/>
            <a:ext cx="5197800" cy="1242300"/>
          </a:xfrm>
          <a:prstGeom prst="rect">
            <a:avLst/>
          </a:prstGeom>
          <a:noFill/>
          <a:ln w="28575" cap="flat" cmpd="sng">
            <a:solidFill>
              <a:srgbClr val="FFD966"/>
            </a:solidFill>
            <a:prstDash val="solid"/>
            <a:round/>
            <a:headEnd type="none" w="sm" len="sm"/>
            <a:tailEnd type="none" w="sm" len="sm"/>
          </a:ln>
        </p:spPr>
        <p:txBody>
          <a:bodyPr spcFirstLastPara="1" wrap="square" lIns="91425" tIns="91425" rIns="91425" bIns="91425" anchor="t" anchorCtr="0">
            <a:noAutofit/>
          </a:bodyPr>
          <a:lstStyle/>
          <a:p>
            <a:pPr lvl="0">
              <a:buSzPts val="1400"/>
            </a:pPr>
            <a:r>
              <a:rPr lang="en-IN" sz="1100" i="0" u="none" strike="noStrike" cap="none" dirty="0">
                <a:solidFill>
                  <a:srgbClr val="000000"/>
                </a:solidFill>
                <a:latin typeface="Google Sans"/>
                <a:ea typeface="Google Sans"/>
                <a:cs typeface="Google Sans"/>
                <a:sym typeface="Google Sans"/>
              </a:rPr>
              <a:t>Vikram </a:t>
            </a:r>
            <a:r>
              <a:rPr lang="en-IN" sz="1100" dirty="0"/>
              <a:t>uses apps like AJIO primarily to buy reliable workwear and premium brand apparel. He values efficiency, high app performance, and direct navigation above all else. Aggressive promotional banners, chaotic homepages, and confusing checkout coupon rules drive him away, as he prioritizes a clean, high-end shopping interface and predictable delivery dates.</a:t>
            </a:r>
            <a:endParaRPr sz="1100" i="0" u="none" strike="noStrike" cap="none" dirty="0">
              <a:solidFill>
                <a:srgbClr val="000000"/>
              </a:solidFill>
              <a:latin typeface="Google Sans"/>
              <a:ea typeface="Google Sans"/>
              <a:cs typeface="Google Sans"/>
              <a:sym typeface="Google Sans"/>
            </a:endParaRPr>
          </a:p>
        </p:txBody>
      </p:sp>
      <p:sp>
        <p:nvSpPr>
          <p:cNvPr id="62" name="Google Shape;62;p13">
            <a:extLst>
              <a:ext uri="{FF2B5EF4-FFF2-40B4-BE49-F238E27FC236}">
                <a16:creationId xmlns:a16="http://schemas.microsoft.com/office/drawing/2014/main" id="{009DB794-3649-F1C0-54A7-A87A609A65B2}"/>
              </a:ext>
            </a:extLst>
          </p:cNvPr>
          <p:cNvSpPr txBox="1"/>
          <p:nvPr/>
        </p:nvSpPr>
        <p:spPr>
          <a:xfrm>
            <a:off x="985225" y="1442025"/>
            <a:ext cx="1666200" cy="79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100" dirty="0">
              <a:latin typeface="Google Sans"/>
              <a:ea typeface="Google Sans"/>
              <a:cs typeface="Google Sans"/>
              <a:sym typeface="Google Sans"/>
            </a:endParaRPr>
          </a:p>
        </p:txBody>
      </p:sp>
    </p:spTree>
    <p:extLst>
      <p:ext uri="{BB962C8B-B14F-4D97-AF65-F5344CB8AC3E}">
        <p14:creationId xmlns:p14="http://schemas.microsoft.com/office/powerpoint/2010/main" val="1223729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DE8DD267-C79C-261E-8B12-0F6AA88BCECD}"/>
            </a:ext>
          </a:extLst>
        </p:cNvPr>
        <p:cNvGrpSpPr/>
        <p:nvPr/>
      </p:nvGrpSpPr>
      <p:grpSpPr>
        <a:xfrm>
          <a:off x="0" y="0"/>
          <a:ext cx="0" cy="0"/>
          <a:chOff x="0" y="0"/>
          <a:chExt cx="0" cy="0"/>
        </a:xfrm>
      </p:grpSpPr>
      <p:sp>
        <p:nvSpPr>
          <p:cNvPr id="54" name="Google Shape;54;p13">
            <a:extLst>
              <a:ext uri="{FF2B5EF4-FFF2-40B4-BE49-F238E27FC236}">
                <a16:creationId xmlns:a16="http://schemas.microsoft.com/office/drawing/2014/main" id="{D146CED6-4870-CE25-8583-CB4A336B2358}"/>
              </a:ext>
            </a:extLst>
          </p:cNvPr>
          <p:cNvSpPr/>
          <p:nvPr/>
        </p:nvSpPr>
        <p:spPr>
          <a:xfrm>
            <a:off x="451525" y="461325"/>
            <a:ext cx="2758200" cy="2758200"/>
          </a:xfrm>
          <a:prstGeom prst="rect">
            <a:avLst/>
          </a:prstGeom>
          <a:solidFill>
            <a:schemeClr val="lt2"/>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Google Sans"/>
              <a:ea typeface="Google Sans"/>
              <a:cs typeface="Google Sans"/>
              <a:sym typeface="Google Sans"/>
            </a:endParaRPr>
          </a:p>
        </p:txBody>
      </p:sp>
      <p:sp>
        <p:nvSpPr>
          <p:cNvPr id="55" name="Google Shape;55;p13">
            <a:extLst>
              <a:ext uri="{FF2B5EF4-FFF2-40B4-BE49-F238E27FC236}">
                <a16:creationId xmlns:a16="http://schemas.microsoft.com/office/drawing/2014/main" id="{372CE6C6-B8B5-F6AA-81E5-53E81E79FAE9}"/>
              </a:ext>
            </a:extLst>
          </p:cNvPr>
          <p:cNvSpPr txBox="1"/>
          <p:nvPr/>
        </p:nvSpPr>
        <p:spPr>
          <a:xfrm>
            <a:off x="451450" y="3219525"/>
            <a:ext cx="2758200" cy="471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sz="1900" b="1" dirty="0">
                <a:solidFill>
                  <a:srgbClr val="1967D2"/>
                </a:solidFill>
                <a:latin typeface="Google Sans"/>
                <a:ea typeface="Google Sans"/>
                <a:cs typeface="Google Sans"/>
                <a:sym typeface="Google Sans"/>
              </a:rPr>
              <a:t>Neha Kulkarni</a:t>
            </a:r>
            <a:endParaRPr sz="1800" b="1" i="0" u="none" strike="noStrike" cap="none" dirty="0">
              <a:solidFill>
                <a:srgbClr val="1967D2"/>
              </a:solidFill>
              <a:latin typeface="Google Sans"/>
              <a:ea typeface="Google Sans"/>
              <a:cs typeface="Google Sans"/>
              <a:sym typeface="Google Sans"/>
            </a:endParaRPr>
          </a:p>
        </p:txBody>
      </p:sp>
      <p:sp>
        <p:nvSpPr>
          <p:cNvPr id="56" name="Google Shape;56;p13">
            <a:extLst>
              <a:ext uri="{FF2B5EF4-FFF2-40B4-BE49-F238E27FC236}">
                <a16:creationId xmlns:a16="http://schemas.microsoft.com/office/drawing/2014/main" id="{A826A776-0F65-1A7C-951A-10BF3F84C3A3}"/>
              </a:ext>
            </a:extLst>
          </p:cNvPr>
          <p:cNvSpPr txBox="1"/>
          <p:nvPr/>
        </p:nvSpPr>
        <p:spPr>
          <a:xfrm>
            <a:off x="323950" y="3614500"/>
            <a:ext cx="1501800" cy="12171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Age: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Education: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Hometown: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Family: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Occupation:</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Google Sans"/>
              <a:ea typeface="Google Sans"/>
              <a:cs typeface="Google Sans"/>
              <a:sym typeface="Google Sans"/>
            </a:endParaRPr>
          </a:p>
        </p:txBody>
      </p:sp>
      <p:sp>
        <p:nvSpPr>
          <p:cNvPr id="57" name="Google Shape;57;p13">
            <a:extLst>
              <a:ext uri="{FF2B5EF4-FFF2-40B4-BE49-F238E27FC236}">
                <a16:creationId xmlns:a16="http://schemas.microsoft.com/office/drawing/2014/main" id="{9F5D4501-40E7-F03E-CAB8-563172061764}"/>
              </a:ext>
            </a:extLst>
          </p:cNvPr>
          <p:cNvSpPr txBox="1"/>
          <p:nvPr/>
        </p:nvSpPr>
        <p:spPr>
          <a:xfrm>
            <a:off x="1707850" y="3614500"/>
            <a:ext cx="1817400" cy="121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i="0" u="none" strike="noStrike" cap="none" dirty="0">
                <a:solidFill>
                  <a:srgbClr val="000000"/>
                </a:solidFill>
                <a:latin typeface="Google Sans"/>
                <a:ea typeface="Google Sans"/>
                <a:cs typeface="Google Sans"/>
                <a:sym typeface="Google Sans"/>
              </a:rPr>
              <a:t>27</a:t>
            </a:r>
            <a:endParaRPr sz="140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chemeClr val="dk1"/>
              </a:buClr>
              <a:buSzPts val="1100"/>
              <a:buFont typeface="Arial"/>
              <a:buNone/>
            </a:pPr>
            <a:r>
              <a:rPr lang="en-US" dirty="0">
                <a:solidFill>
                  <a:schemeClr val="dk1"/>
                </a:solidFill>
                <a:latin typeface="Google Sans"/>
                <a:ea typeface="Google Sans"/>
                <a:cs typeface="Google Sans"/>
                <a:sym typeface="Google Sans"/>
              </a:rPr>
              <a:t>M.COM </a:t>
            </a:r>
            <a:endParaRPr sz="1400" i="0" u="none" strike="noStrike" cap="none" dirty="0">
              <a:solidFill>
                <a:schemeClr val="dk1"/>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r>
              <a:rPr lang="en-US" sz="1400" i="0" u="none" strike="noStrike" cap="none" dirty="0">
                <a:solidFill>
                  <a:srgbClr val="000000"/>
                </a:solidFill>
                <a:latin typeface="Google Sans"/>
                <a:ea typeface="Google Sans"/>
                <a:cs typeface="Google Sans"/>
                <a:sym typeface="Google Sans"/>
              </a:rPr>
              <a:t>Pune</a:t>
            </a:r>
          </a:p>
          <a:p>
            <a:pPr marL="0" marR="0" lvl="0" indent="0" algn="l" rtl="0">
              <a:lnSpc>
                <a:spcPct val="100000"/>
              </a:lnSpc>
              <a:spcBef>
                <a:spcPts val="0"/>
              </a:spcBef>
              <a:spcAft>
                <a:spcPts val="0"/>
              </a:spcAft>
              <a:buClr>
                <a:srgbClr val="000000"/>
              </a:buClr>
              <a:buSzPts val="1400"/>
              <a:buFont typeface="Arial"/>
              <a:buNone/>
            </a:pPr>
            <a:r>
              <a:rPr lang="en-US" dirty="0">
                <a:latin typeface="Google Sans"/>
                <a:ea typeface="Google Sans"/>
                <a:cs typeface="Google Sans"/>
                <a:sym typeface="Google Sans"/>
              </a:rPr>
              <a:t>Lives</a:t>
            </a:r>
            <a:r>
              <a:rPr lang="en-US" sz="1400" i="0" u="none" strike="noStrike" cap="none" dirty="0">
                <a:solidFill>
                  <a:srgbClr val="000000"/>
                </a:solidFill>
                <a:latin typeface="Google Sans"/>
                <a:ea typeface="Google Sans"/>
                <a:cs typeface="Google Sans"/>
                <a:sym typeface="Google Sans"/>
              </a:rPr>
              <a:t> with Parents</a:t>
            </a:r>
          </a:p>
          <a:p>
            <a:pPr marL="0" marR="0" lvl="0" indent="0" algn="l" rtl="0">
              <a:lnSpc>
                <a:spcPct val="100000"/>
              </a:lnSpc>
              <a:spcBef>
                <a:spcPts val="0"/>
              </a:spcBef>
              <a:spcAft>
                <a:spcPts val="0"/>
              </a:spcAft>
              <a:buClr>
                <a:srgbClr val="000000"/>
              </a:buClr>
              <a:buSzPts val="1400"/>
              <a:buFont typeface="Arial"/>
              <a:buNone/>
            </a:pPr>
            <a:r>
              <a:rPr lang="en-US" dirty="0">
                <a:latin typeface="Google Sans"/>
                <a:ea typeface="Google Sans"/>
                <a:cs typeface="Google Sans"/>
                <a:sym typeface="Google Sans"/>
              </a:rPr>
              <a:t>Financial Analyst</a:t>
            </a:r>
            <a:endParaRPr lang="en-US" sz="1400" i="0" u="none" strike="noStrike" cap="none" dirty="0">
              <a:solidFill>
                <a:srgbClr val="000000"/>
              </a:solidFill>
              <a:latin typeface="Google Sans"/>
              <a:ea typeface="Google Sans"/>
              <a:cs typeface="Google Sans"/>
              <a:sym typeface="Google Sans"/>
            </a:endParaRPr>
          </a:p>
        </p:txBody>
      </p:sp>
      <p:sp>
        <p:nvSpPr>
          <p:cNvPr id="58" name="Google Shape;58;p13">
            <a:extLst>
              <a:ext uri="{FF2B5EF4-FFF2-40B4-BE49-F238E27FC236}">
                <a16:creationId xmlns:a16="http://schemas.microsoft.com/office/drawing/2014/main" id="{AE77219D-259C-0239-BF65-42459FD580A4}"/>
              </a:ext>
            </a:extLst>
          </p:cNvPr>
          <p:cNvSpPr txBox="1"/>
          <p:nvPr/>
        </p:nvSpPr>
        <p:spPr>
          <a:xfrm>
            <a:off x="3646575" y="339350"/>
            <a:ext cx="5035800" cy="908700"/>
          </a:xfrm>
          <a:prstGeom prst="rect">
            <a:avLst/>
          </a:prstGeom>
          <a:noFill/>
          <a:ln>
            <a:noFill/>
          </a:ln>
        </p:spPr>
        <p:txBody>
          <a:bodyPr spcFirstLastPara="1" wrap="square" lIns="91425" tIns="91425" rIns="91425" bIns="91425" anchor="ctr" anchorCtr="0">
            <a:noAutofit/>
          </a:bodyPr>
          <a:lstStyle/>
          <a:p>
            <a:pPr lvl="0" algn="ctr">
              <a:buSzPts val="1800"/>
            </a:pPr>
            <a:r>
              <a:rPr lang="en-IN" sz="1800" i="1" dirty="0"/>
              <a:t>“I never hit checkout until I know I’m getting the absolute best price possible.”</a:t>
            </a:r>
            <a:endParaRPr sz="1800" i="1" u="none" strike="noStrike" cap="none" dirty="0">
              <a:solidFill>
                <a:srgbClr val="000000"/>
              </a:solidFill>
              <a:latin typeface="Google Sans"/>
              <a:ea typeface="Google Sans"/>
              <a:cs typeface="Google Sans"/>
              <a:sym typeface="Google Sans"/>
            </a:endParaRPr>
          </a:p>
        </p:txBody>
      </p:sp>
      <p:sp>
        <p:nvSpPr>
          <p:cNvPr id="59" name="Google Shape;59;p13">
            <a:extLst>
              <a:ext uri="{FF2B5EF4-FFF2-40B4-BE49-F238E27FC236}">
                <a16:creationId xmlns:a16="http://schemas.microsoft.com/office/drawing/2014/main" id="{06AFD26A-FE10-71C0-B0DE-BB0BB3DDC164}"/>
              </a:ext>
            </a:extLst>
          </p:cNvPr>
          <p:cNvSpPr txBox="1"/>
          <p:nvPr/>
        </p:nvSpPr>
        <p:spPr>
          <a:xfrm>
            <a:off x="3641775" y="1302810"/>
            <a:ext cx="25227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900"/>
              <a:buFont typeface="Arial"/>
              <a:buNone/>
            </a:pPr>
            <a:r>
              <a:rPr lang="en" sz="1900" b="1" i="0" u="none" strike="noStrike" cap="none" dirty="0">
                <a:solidFill>
                  <a:srgbClr val="196702"/>
                </a:solidFill>
                <a:latin typeface="Google Sans"/>
                <a:ea typeface="Google Sans"/>
                <a:cs typeface="Google Sans"/>
                <a:sym typeface="Google Sans"/>
              </a:rPr>
              <a:t>Goals</a:t>
            </a:r>
            <a:r>
              <a:rPr lang="en" sz="1800" i="0" u="none" strike="noStrike" cap="none" dirty="0">
                <a:solidFill>
                  <a:srgbClr val="000000"/>
                </a:solidFill>
                <a:latin typeface="Google Sans"/>
                <a:ea typeface="Google Sans"/>
                <a:cs typeface="Google Sans"/>
                <a:sym typeface="Google Sans"/>
              </a:rPr>
              <a:t> </a:t>
            </a:r>
            <a:endParaRPr sz="1800" i="0" u="none" strike="noStrike" cap="none" dirty="0">
              <a:solidFill>
                <a:srgbClr val="000000"/>
              </a:solidFill>
              <a:latin typeface="Google Sans"/>
              <a:ea typeface="Google Sans"/>
              <a:cs typeface="Google Sans"/>
              <a:sym typeface="Google Sans"/>
            </a:endParaRPr>
          </a:p>
          <a:p>
            <a:pPr marL="171450" lvl="0" indent="-171450">
              <a:buFont typeface="Arial" panose="020B0604020202020204" pitchFamily="34" charset="0"/>
              <a:buChar char="•"/>
            </a:pPr>
            <a:r>
              <a:rPr lang="en-IN" sz="1100" dirty="0"/>
              <a:t>Maximize savings by auto-applying best coupons and stacking bank cashback offers.</a:t>
            </a:r>
          </a:p>
          <a:p>
            <a:pPr marL="171450" lvl="0" indent="-171450">
              <a:buFont typeface="Arial" panose="020B0604020202020204" pitchFamily="34" charset="0"/>
              <a:buChar char="•"/>
            </a:pPr>
            <a:r>
              <a:rPr lang="en-IN" sz="1100" dirty="0"/>
              <a:t>Track price drops on wish listed items across multiple apps.</a:t>
            </a:r>
          </a:p>
          <a:p>
            <a:pPr marL="171450" lvl="0" indent="-171450">
              <a:buFont typeface="Arial" panose="020B0604020202020204" pitchFamily="34" charset="0"/>
              <a:buChar char="•"/>
            </a:pPr>
            <a:r>
              <a:rPr lang="en-IN" sz="1100" dirty="0"/>
              <a:t>View clear, upfront pricing breakdowns early in the shopping process.</a:t>
            </a:r>
          </a:p>
          <a:p>
            <a:pPr marL="171450" lvl="0" indent="-171450">
              <a:buFont typeface="Arial" panose="020B0604020202020204" pitchFamily="34" charset="0"/>
              <a:buChar char="•"/>
            </a:pPr>
            <a:r>
              <a:rPr lang="en-IN" sz="1100" dirty="0"/>
              <a:t>Find value-for-money wardrobe staples during major seasonal sale events.</a:t>
            </a:r>
          </a:p>
          <a:p>
            <a:pPr marL="139700" marR="0" lvl="0" algn="l" rtl="0">
              <a:lnSpc>
                <a:spcPct val="100000"/>
              </a:lnSpc>
              <a:spcBef>
                <a:spcPts val="0"/>
              </a:spcBef>
              <a:spcAft>
                <a:spcPts val="0"/>
              </a:spcAft>
              <a:buClr>
                <a:srgbClr val="000000"/>
              </a:buClr>
              <a:buSzPts val="1400"/>
            </a:pPr>
            <a:r>
              <a:rPr lang="en" sz="1100" i="0" u="none" strike="noStrike" cap="none" dirty="0">
                <a:solidFill>
                  <a:srgbClr val="000000"/>
                </a:solidFill>
                <a:latin typeface="Google Sans"/>
                <a:ea typeface="Google Sans"/>
                <a:cs typeface="Google Sans"/>
                <a:sym typeface="Google Sans"/>
              </a:rPr>
              <a:t>  </a:t>
            </a:r>
            <a:endParaRPr sz="1100" i="0" u="none" strike="noStrike" cap="none" dirty="0">
              <a:solidFill>
                <a:srgbClr val="000000"/>
              </a:solidFill>
              <a:latin typeface="Google Sans"/>
              <a:ea typeface="Google Sans"/>
              <a:cs typeface="Google Sans"/>
              <a:sym typeface="Google Sans"/>
            </a:endParaRPr>
          </a:p>
        </p:txBody>
      </p:sp>
      <p:sp>
        <p:nvSpPr>
          <p:cNvPr id="60" name="Google Shape;60;p13">
            <a:extLst>
              <a:ext uri="{FF2B5EF4-FFF2-40B4-BE49-F238E27FC236}">
                <a16:creationId xmlns:a16="http://schemas.microsoft.com/office/drawing/2014/main" id="{B0752C10-296C-5A70-B7D0-1F4FECCF3D81}"/>
              </a:ext>
            </a:extLst>
          </p:cNvPr>
          <p:cNvSpPr txBox="1"/>
          <p:nvPr/>
        </p:nvSpPr>
        <p:spPr>
          <a:xfrm>
            <a:off x="6326475" y="1302810"/>
            <a:ext cx="25227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900" b="1" i="0" u="none" strike="noStrike" cap="none" dirty="0">
                <a:solidFill>
                  <a:srgbClr val="C5221F"/>
                </a:solidFill>
                <a:latin typeface="Google Sans"/>
                <a:ea typeface="Google Sans"/>
                <a:cs typeface="Google Sans"/>
                <a:sym typeface="Google Sans"/>
              </a:rPr>
              <a:t>Frustrations</a:t>
            </a:r>
            <a:r>
              <a:rPr lang="en" sz="1800" b="1" i="0" u="none" strike="noStrike" cap="none" dirty="0">
                <a:solidFill>
                  <a:schemeClr val="dk1"/>
                </a:solidFill>
                <a:latin typeface="Google Sans"/>
                <a:ea typeface="Google Sans"/>
                <a:cs typeface="Google Sans"/>
                <a:sym typeface="Google Sans"/>
              </a:rPr>
              <a:t> </a:t>
            </a:r>
            <a:endParaRPr sz="1800" b="1" i="0" u="none" strike="noStrike" cap="none" dirty="0">
              <a:solidFill>
                <a:schemeClr val="dk1"/>
              </a:solidFill>
              <a:latin typeface="Google Sans"/>
              <a:ea typeface="Google Sans"/>
              <a:cs typeface="Google Sans"/>
              <a:sym typeface="Google Sans"/>
            </a:endParaRPr>
          </a:p>
          <a:p>
            <a:pPr marL="171450" lvl="0" indent="-171450">
              <a:buFont typeface="Arial" panose="020B0604020202020204" pitchFamily="34" charset="0"/>
              <a:buChar char="•"/>
            </a:pPr>
            <a:r>
              <a:rPr lang="en-IN" sz="1100" dirty="0"/>
              <a:t>Unexpected platform, handling, or delivery fees added late at checkout.</a:t>
            </a:r>
          </a:p>
          <a:p>
            <a:pPr marL="171450" lvl="0" indent="-171450">
              <a:buFont typeface="Arial" panose="020B0604020202020204" pitchFamily="34" charset="0"/>
              <a:buChar char="•"/>
            </a:pPr>
            <a:r>
              <a:rPr lang="en-IN" sz="1100" dirty="0"/>
              <a:t>Coupon codes that fail to apply without clear error explanations.</a:t>
            </a:r>
          </a:p>
          <a:p>
            <a:pPr marL="171450" lvl="0" indent="-171450">
              <a:buFont typeface="Arial" panose="020B0604020202020204" pitchFamily="34" charset="0"/>
              <a:buChar char="•"/>
            </a:pPr>
            <a:r>
              <a:rPr lang="en-IN" sz="1100" dirty="0"/>
              <a:t>Misleading "original price" markups during promotional sales.</a:t>
            </a:r>
          </a:p>
          <a:p>
            <a:pPr marL="171450" lvl="0" indent="-171450">
              <a:buFont typeface="Arial" panose="020B0604020202020204" pitchFamily="34" charset="0"/>
              <a:buChar char="•"/>
            </a:pPr>
            <a:r>
              <a:rPr lang="en-IN" sz="1100" dirty="0"/>
              <a:t>Wishlist items going out of stock without prior price drop alerts.</a:t>
            </a:r>
          </a:p>
          <a:p>
            <a:pPr marL="425450" marR="0" lvl="0" indent="-285750" algn="l" rtl="0">
              <a:lnSpc>
                <a:spcPct val="100000"/>
              </a:lnSpc>
              <a:spcBef>
                <a:spcPts val="0"/>
              </a:spcBef>
              <a:spcAft>
                <a:spcPts val="0"/>
              </a:spcAft>
              <a:buClr>
                <a:schemeClr val="dk1"/>
              </a:buClr>
              <a:buSzPts val="1400"/>
              <a:buFont typeface="Arial" panose="020B0604020202020204" pitchFamily="34" charset="0"/>
              <a:buChar char="•"/>
            </a:pPr>
            <a:endParaRPr lang="en" dirty="0">
              <a:solidFill>
                <a:schemeClr val="dk1"/>
              </a:solidFill>
              <a:latin typeface="Google Sans"/>
              <a:ea typeface="Google Sans"/>
              <a:cs typeface="Google Sans"/>
              <a:sym typeface="Google Sans"/>
            </a:endParaRPr>
          </a:p>
        </p:txBody>
      </p:sp>
      <p:sp>
        <p:nvSpPr>
          <p:cNvPr id="61" name="Google Shape;61;p13">
            <a:extLst>
              <a:ext uri="{FF2B5EF4-FFF2-40B4-BE49-F238E27FC236}">
                <a16:creationId xmlns:a16="http://schemas.microsoft.com/office/drawing/2014/main" id="{64AEC389-5329-BF19-8D9F-FF7AD9E0043F}"/>
              </a:ext>
            </a:extLst>
          </p:cNvPr>
          <p:cNvSpPr txBox="1"/>
          <p:nvPr/>
        </p:nvSpPr>
        <p:spPr>
          <a:xfrm>
            <a:off x="3651375" y="3547775"/>
            <a:ext cx="5197800" cy="1242300"/>
          </a:xfrm>
          <a:prstGeom prst="rect">
            <a:avLst/>
          </a:prstGeom>
          <a:noFill/>
          <a:ln w="28575" cap="flat" cmpd="sng">
            <a:solidFill>
              <a:srgbClr val="FFD966"/>
            </a:solidFill>
            <a:prstDash val="solid"/>
            <a:round/>
            <a:headEnd type="none" w="sm" len="sm"/>
            <a:tailEnd type="none" w="sm" len="sm"/>
          </a:ln>
        </p:spPr>
        <p:txBody>
          <a:bodyPr spcFirstLastPara="1" wrap="square" lIns="91425" tIns="91425" rIns="91425" bIns="91425" anchor="t" anchorCtr="0">
            <a:noAutofit/>
          </a:bodyPr>
          <a:lstStyle/>
          <a:p>
            <a:pPr lvl="0">
              <a:buSzPts val="1400"/>
            </a:pPr>
            <a:r>
              <a:rPr lang="en-IN" sz="1200" dirty="0"/>
              <a:t>Neha systematically compares platforms like AJIO and Savana to find maximum value for her money. She meticulously tracks sales, price drops, and bank discount codes before making a purchase. Unexpected hidden fees added at the final payment step or broken promo codes severely undermine her trust in an app's user experience.</a:t>
            </a:r>
            <a:endParaRPr sz="1200" b="1" i="0" u="none" strike="noStrike" cap="none" dirty="0">
              <a:solidFill>
                <a:srgbClr val="000000"/>
              </a:solidFill>
              <a:latin typeface="Google Sans"/>
              <a:ea typeface="Google Sans"/>
              <a:cs typeface="Google Sans"/>
              <a:sym typeface="Google Sans"/>
            </a:endParaRPr>
          </a:p>
        </p:txBody>
      </p:sp>
      <p:sp>
        <p:nvSpPr>
          <p:cNvPr id="62" name="Google Shape;62;p13">
            <a:extLst>
              <a:ext uri="{FF2B5EF4-FFF2-40B4-BE49-F238E27FC236}">
                <a16:creationId xmlns:a16="http://schemas.microsoft.com/office/drawing/2014/main" id="{1093D08E-0FEC-E393-D0D8-65C66C52BE2A}"/>
              </a:ext>
            </a:extLst>
          </p:cNvPr>
          <p:cNvSpPr txBox="1"/>
          <p:nvPr/>
        </p:nvSpPr>
        <p:spPr>
          <a:xfrm>
            <a:off x="985225" y="1442025"/>
            <a:ext cx="1666200" cy="79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100" dirty="0">
              <a:latin typeface="Google Sans"/>
              <a:ea typeface="Google Sans"/>
              <a:cs typeface="Google Sans"/>
              <a:sym typeface="Google Sans"/>
            </a:endParaRPr>
          </a:p>
        </p:txBody>
      </p:sp>
    </p:spTree>
    <p:extLst>
      <p:ext uri="{BB962C8B-B14F-4D97-AF65-F5344CB8AC3E}">
        <p14:creationId xmlns:p14="http://schemas.microsoft.com/office/powerpoint/2010/main" val="1399832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3BAD1684-5943-B48B-EF6A-B2785E8B00DB}"/>
            </a:ext>
          </a:extLst>
        </p:cNvPr>
        <p:cNvGrpSpPr/>
        <p:nvPr/>
      </p:nvGrpSpPr>
      <p:grpSpPr>
        <a:xfrm>
          <a:off x="0" y="0"/>
          <a:ext cx="0" cy="0"/>
          <a:chOff x="0" y="0"/>
          <a:chExt cx="0" cy="0"/>
        </a:xfrm>
      </p:grpSpPr>
      <p:sp>
        <p:nvSpPr>
          <p:cNvPr id="54" name="Google Shape;54;p13">
            <a:extLst>
              <a:ext uri="{FF2B5EF4-FFF2-40B4-BE49-F238E27FC236}">
                <a16:creationId xmlns:a16="http://schemas.microsoft.com/office/drawing/2014/main" id="{DB5B987F-96CD-E5EB-5178-424F2E5B7329}"/>
              </a:ext>
            </a:extLst>
          </p:cNvPr>
          <p:cNvSpPr/>
          <p:nvPr/>
        </p:nvSpPr>
        <p:spPr>
          <a:xfrm>
            <a:off x="451525" y="461325"/>
            <a:ext cx="2758200" cy="2758200"/>
          </a:xfrm>
          <a:prstGeom prst="rect">
            <a:avLst/>
          </a:prstGeom>
          <a:solidFill>
            <a:schemeClr val="lt2"/>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Google Sans"/>
              <a:ea typeface="Google Sans"/>
              <a:cs typeface="Google Sans"/>
              <a:sym typeface="Google Sans"/>
            </a:endParaRPr>
          </a:p>
        </p:txBody>
      </p:sp>
      <p:sp>
        <p:nvSpPr>
          <p:cNvPr id="55" name="Google Shape;55;p13">
            <a:extLst>
              <a:ext uri="{FF2B5EF4-FFF2-40B4-BE49-F238E27FC236}">
                <a16:creationId xmlns:a16="http://schemas.microsoft.com/office/drawing/2014/main" id="{7FD96FA6-5EA0-290F-489E-8D88EFBE5B73}"/>
              </a:ext>
            </a:extLst>
          </p:cNvPr>
          <p:cNvSpPr txBox="1"/>
          <p:nvPr/>
        </p:nvSpPr>
        <p:spPr>
          <a:xfrm>
            <a:off x="451450" y="3219525"/>
            <a:ext cx="2758200" cy="471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IN" sz="1800" b="1" i="0" u="none" strike="noStrike" cap="none" dirty="0">
                <a:solidFill>
                  <a:srgbClr val="1967D2"/>
                </a:solidFill>
                <a:latin typeface="Google Sans"/>
                <a:ea typeface="Google Sans"/>
                <a:cs typeface="Google Sans"/>
                <a:sym typeface="Google Sans"/>
              </a:rPr>
              <a:t>Rajesh Patil</a:t>
            </a:r>
            <a:endParaRPr sz="1800" b="1" i="0" u="none" strike="noStrike" cap="none" dirty="0">
              <a:solidFill>
                <a:srgbClr val="1967D2"/>
              </a:solidFill>
              <a:latin typeface="Google Sans"/>
              <a:ea typeface="Google Sans"/>
              <a:cs typeface="Google Sans"/>
              <a:sym typeface="Google Sans"/>
            </a:endParaRPr>
          </a:p>
        </p:txBody>
      </p:sp>
      <p:sp>
        <p:nvSpPr>
          <p:cNvPr id="56" name="Google Shape;56;p13">
            <a:extLst>
              <a:ext uri="{FF2B5EF4-FFF2-40B4-BE49-F238E27FC236}">
                <a16:creationId xmlns:a16="http://schemas.microsoft.com/office/drawing/2014/main" id="{27C5B939-5815-A107-AAEF-E36918098E8B}"/>
              </a:ext>
            </a:extLst>
          </p:cNvPr>
          <p:cNvSpPr txBox="1"/>
          <p:nvPr/>
        </p:nvSpPr>
        <p:spPr>
          <a:xfrm>
            <a:off x="323950" y="3614500"/>
            <a:ext cx="1501800" cy="12171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Age: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Education: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Hometown: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Family: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Occupation:</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Google Sans"/>
              <a:ea typeface="Google Sans"/>
              <a:cs typeface="Google Sans"/>
              <a:sym typeface="Google Sans"/>
            </a:endParaRPr>
          </a:p>
        </p:txBody>
      </p:sp>
      <p:sp>
        <p:nvSpPr>
          <p:cNvPr id="57" name="Google Shape;57;p13">
            <a:extLst>
              <a:ext uri="{FF2B5EF4-FFF2-40B4-BE49-F238E27FC236}">
                <a16:creationId xmlns:a16="http://schemas.microsoft.com/office/drawing/2014/main" id="{1CC4486A-3E1C-78BD-0D79-180FB31B762C}"/>
              </a:ext>
            </a:extLst>
          </p:cNvPr>
          <p:cNvSpPr txBox="1"/>
          <p:nvPr/>
        </p:nvSpPr>
        <p:spPr>
          <a:xfrm>
            <a:off x="1707850" y="3614500"/>
            <a:ext cx="1817400" cy="121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dirty="0">
                <a:latin typeface="Google Sans"/>
                <a:ea typeface="Google Sans"/>
                <a:cs typeface="Google Sans"/>
                <a:sym typeface="Google Sans"/>
              </a:rPr>
              <a:t>29</a:t>
            </a:r>
            <a:endParaRPr sz="140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chemeClr val="dk1"/>
              </a:buClr>
              <a:buSzPts val="1100"/>
              <a:buFont typeface="Arial"/>
              <a:buNone/>
            </a:pPr>
            <a:r>
              <a:rPr lang="en-US" dirty="0" err="1">
                <a:solidFill>
                  <a:schemeClr val="dk1"/>
                </a:solidFill>
                <a:latin typeface="Google Sans"/>
                <a:ea typeface="Google Sans"/>
                <a:cs typeface="Google Sans"/>
                <a:sym typeface="Google Sans"/>
              </a:rPr>
              <a:t>B.Com</a:t>
            </a:r>
            <a:endParaRPr sz="1400" i="0" u="none" strike="noStrike" cap="none" dirty="0">
              <a:solidFill>
                <a:schemeClr val="dk1"/>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r>
              <a:rPr lang="en-US" dirty="0">
                <a:latin typeface="Google Sans"/>
                <a:ea typeface="Google Sans"/>
                <a:cs typeface="Google Sans"/>
                <a:sym typeface="Google Sans"/>
              </a:rPr>
              <a:t>Ahmedabad</a:t>
            </a:r>
            <a:endParaRPr sz="140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r>
              <a:rPr lang="en-US" dirty="0">
                <a:latin typeface="Google Sans"/>
                <a:ea typeface="Google Sans"/>
                <a:cs typeface="Google Sans"/>
                <a:sym typeface="Google Sans"/>
              </a:rPr>
              <a:t>Joint Family</a:t>
            </a:r>
            <a:endParaRPr lang="en-US" sz="1400" i="0" u="none" strike="noStrike" cap="none" dirty="0">
              <a:solidFill>
                <a:srgbClr val="000000"/>
              </a:solidFill>
              <a:latin typeface="Google Sans"/>
              <a:ea typeface="Google Sans"/>
              <a:cs typeface="Google Sans"/>
              <a:sym typeface="Google Sans"/>
            </a:endParaRPr>
          </a:p>
          <a:p>
            <a:pPr lvl="0">
              <a:buSzPts val="1400"/>
            </a:pPr>
            <a:r>
              <a:rPr lang="en-IN" dirty="0"/>
              <a:t>Small Business Owner</a:t>
            </a:r>
            <a:r>
              <a:rPr lang="en-US" dirty="0">
                <a:latin typeface="Google Sans"/>
                <a:ea typeface="Google Sans"/>
                <a:cs typeface="Google Sans"/>
                <a:sym typeface="Google Sans"/>
              </a:rPr>
              <a:t> </a:t>
            </a:r>
            <a:endParaRPr sz="1400" i="0" u="none" strike="noStrike" cap="none" dirty="0">
              <a:solidFill>
                <a:srgbClr val="000000"/>
              </a:solidFill>
              <a:latin typeface="Google Sans"/>
              <a:ea typeface="Google Sans"/>
              <a:cs typeface="Google Sans"/>
              <a:sym typeface="Google Sans"/>
            </a:endParaRPr>
          </a:p>
        </p:txBody>
      </p:sp>
      <p:sp>
        <p:nvSpPr>
          <p:cNvPr id="58" name="Google Shape;58;p13">
            <a:extLst>
              <a:ext uri="{FF2B5EF4-FFF2-40B4-BE49-F238E27FC236}">
                <a16:creationId xmlns:a16="http://schemas.microsoft.com/office/drawing/2014/main" id="{FBD5FB2C-CD67-0A45-6DAB-06048DBC89D3}"/>
              </a:ext>
            </a:extLst>
          </p:cNvPr>
          <p:cNvSpPr txBox="1"/>
          <p:nvPr/>
        </p:nvSpPr>
        <p:spPr>
          <a:xfrm>
            <a:off x="3651375" y="461325"/>
            <a:ext cx="5035800" cy="908700"/>
          </a:xfrm>
          <a:prstGeom prst="rect">
            <a:avLst/>
          </a:prstGeom>
          <a:noFill/>
          <a:ln>
            <a:noFill/>
          </a:ln>
        </p:spPr>
        <p:txBody>
          <a:bodyPr spcFirstLastPara="1" wrap="square" lIns="91425" tIns="91425" rIns="91425" bIns="91425" anchor="ctr" anchorCtr="0">
            <a:noAutofit/>
          </a:bodyPr>
          <a:lstStyle/>
          <a:p>
            <a:pPr lvl="0" algn="ctr">
              <a:buSzPts val="1800"/>
            </a:pPr>
            <a:r>
              <a:rPr lang="en-IN" sz="1800" i="1" dirty="0"/>
              <a:t>“I only buy online if the app is easy to navigate and I know I can return it easily.”</a:t>
            </a:r>
            <a:endParaRPr sz="1800" i="1" u="none" strike="noStrike" cap="none" dirty="0">
              <a:solidFill>
                <a:srgbClr val="000000"/>
              </a:solidFill>
              <a:latin typeface="Google Sans"/>
              <a:ea typeface="Google Sans"/>
              <a:cs typeface="Google Sans"/>
              <a:sym typeface="Google Sans"/>
            </a:endParaRPr>
          </a:p>
        </p:txBody>
      </p:sp>
      <p:sp>
        <p:nvSpPr>
          <p:cNvPr id="59" name="Google Shape;59;p13">
            <a:extLst>
              <a:ext uri="{FF2B5EF4-FFF2-40B4-BE49-F238E27FC236}">
                <a16:creationId xmlns:a16="http://schemas.microsoft.com/office/drawing/2014/main" id="{8318F4C9-5FE3-7509-1CF0-144D48A5C2D7}"/>
              </a:ext>
            </a:extLst>
          </p:cNvPr>
          <p:cNvSpPr txBox="1"/>
          <p:nvPr/>
        </p:nvSpPr>
        <p:spPr>
          <a:xfrm>
            <a:off x="3613275" y="1271925"/>
            <a:ext cx="27582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900"/>
              <a:buFont typeface="Arial"/>
              <a:buNone/>
            </a:pPr>
            <a:r>
              <a:rPr lang="en" sz="1900" b="1" i="0" u="none" strike="noStrike" cap="none" dirty="0">
                <a:solidFill>
                  <a:srgbClr val="196702"/>
                </a:solidFill>
                <a:latin typeface="Google Sans"/>
                <a:ea typeface="Google Sans"/>
                <a:cs typeface="Google Sans"/>
                <a:sym typeface="Google Sans"/>
              </a:rPr>
              <a:t>Goals</a:t>
            </a:r>
            <a:r>
              <a:rPr lang="en" sz="1800" i="0" u="none" strike="noStrike" cap="none" dirty="0">
                <a:solidFill>
                  <a:srgbClr val="000000"/>
                </a:solidFill>
                <a:latin typeface="Google Sans"/>
                <a:ea typeface="Google Sans"/>
                <a:cs typeface="Google Sans"/>
                <a:sym typeface="Google Sans"/>
              </a:rPr>
              <a:t> </a:t>
            </a:r>
            <a:endParaRPr lang="en" sz="1800" dirty="0">
              <a:latin typeface="Google Sans"/>
              <a:ea typeface="Google Sans"/>
              <a:cs typeface="Google Sans"/>
              <a:sym typeface="Google Sans"/>
            </a:endParaRPr>
          </a:p>
          <a:p>
            <a:pPr marL="171450" lvl="0" indent="-171450">
              <a:buFont typeface="Arial" panose="020B0604020202020204" pitchFamily="34" charset="0"/>
              <a:buChar char="•"/>
            </a:pPr>
            <a:r>
              <a:rPr lang="en-IN" sz="1100" dirty="0"/>
              <a:t>Purchase reliable, everyday branded clothing for himself and family members.</a:t>
            </a:r>
          </a:p>
          <a:p>
            <a:pPr marL="171450" lvl="0" indent="-171450">
              <a:buFont typeface="Arial" panose="020B0604020202020204" pitchFamily="34" charset="0"/>
              <a:buChar char="•"/>
            </a:pPr>
            <a:r>
              <a:rPr lang="en-IN" sz="1100" dirty="0"/>
              <a:t>Navigate the app using simple, legible menus and direct category listings.</a:t>
            </a:r>
          </a:p>
          <a:p>
            <a:pPr marL="171450" lvl="0" indent="-171450">
              <a:buFont typeface="Arial" panose="020B0604020202020204" pitchFamily="34" charset="0"/>
              <a:buChar char="•"/>
            </a:pPr>
            <a:r>
              <a:rPr lang="en-IN" sz="1100" dirty="0"/>
              <a:t>Pay securely using trustworthy methods like Cash on Delivery (COD) or simple UPI.</a:t>
            </a:r>
          </a:p>
          <a:p>
            <a:pPr marL="171450" lvl="0" indent="-171450">
              <a:buFont typeface="Arial" panose="020B0604020202020204" pitchFamily="34" charset="0"/>
              <a:buChar char="•"/>
            </a:pPr>
            <a:r>
              <a:rPr lang="en-IN" sz="1100" dirty="0"/>
              <a:t>Access clear sizing charts and real customer photo reviews for reassurance.</a:t>
            </a:r>
          </a:p>
          <a:p>
            <a:pPr marL="285750" marR="0" lvl="0" indent="-285750" algn="l" rtl="0">
              <a:lnSpc>
                <a:spcPct val="100000"/>
              </a:lnSpc>
              <a:spcBef>
                <a:spcPts val="0"/>
              </a:spcBef>
              <a:spcAft>
                <a:spcPts val="0"/>
              </a:spcAft>
              <a:buClr>
                <a:srgbClr val="000000"/>
              </a:buClr>
              <a:buSzPts val="1900"/>
              <a:buFont typeface="Arial" panose="020B0604020202020204" pitchFamily="34" charset="0"/>
              <a:buChar char="•"/>
            </a:pPr>
            <a:endParaRPr lang="en" sz="1100" dirty="0">
              <a:latin typeface="Google Sans"/>
              <a:ea typeface="Google Sans"/>
              <a:cs typeface="Google Sans"/>
              <a:sym typeface="Google Sans"/>
            </a:endParaRPr>
          </a:p>
          <a:p>
            <a:pPr marL="139700" marR="0" lvl="0" algn="l" rtl="0">
              <a:lnSpc>
                <a:spcPct val="100000"/>
              </a:lnSpc>
              <a:spcBef>
                <a:spcPts val="0"/>
              </a:spcBef>
              <a:spcAft>
                <a:spcPts val="0"/>
              </a:spcAft>
              <a:buClr>
                <a:srgbClr val="000000"/>
              </a:buClr>
              <a:buSzPts val="1400"/>
            </a:pPr>
            <a:r>
              <a:rPr lang="en" sz="1400" i="0" u="none" strike="noStrike" cap="none" dirty="0">
                <a:solidFill>
                  <a:srgbClr val="000000"/>
                </a:solidFill>
                <a:latin typeface="Google Sans"/>
                <a:ea typeface="Google Sans"/>
                <a:cs typeface="Google Sans"/>
                <a:sym typeface="Google Sans"/>
              </a:rPr>
              <a:t>  </a:t>
            </a:r>
            <a:endParaRPr sz="1400" i="0" u="none" strike="noStrike" cap="none" dirty="0">
              <a:solidFill>
                <a:srgbClr val="000000"/>
              </a:solidFill>
              <a:latin typeface="Google Sans"/>
              <a:ea typeface="Google Sans"/>
              <a:cs typeface="Google Sans"/>
              <a:sym typeface="Google Sans"/>
            </a:endParaRPr>
          </a:p>
        </p:txBody>
      </p:sp>
      <p:sp>
        <p:nvSpPr>
          <p:cNvPr id="60" name="Google Shape;60;p13">
            <a:extLst>
              <a:ext uri="{FF2B5EF4-FFF2-40B4-BE49-F238E27FC236}">
                <a16:creationId xmlns:a16="http://schemas.microsoft.com/office/drawing/2014/main" id="{E2F9811A-C348-0BF2-C891-DC782716EEAA}"/>
              </a:ext>
            </a:extLst>
          </p:cNvPr>
          <p:cNvSpPr txBox="1"/>
          <p:nvPr/>
        </p:nvSpPr>
        <p:spPr>
          <a:xfrm>
            <a:off x="6326475" y="1271925"/>
            <a:ext cx="25227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900" b="1" i="0" u="none" strike="noStrike" cap="none" dirty="0">
                <a:solidFill>
                  <a:srgbClr val="C5221F"/>
                </a:solidFill>
                <a:latin typeface="Google Sans"/>
                <a:ea typeface="Google Sans"/>
                <a:cs typeface="Google Sans"/>
                <a:sym typeface="Google Sans"/>
              </a:rPr>
              <a:t>Frustrations</a:t>
            </a:r>
            <a:r>
              <a:rPr lang="en" sz="1800" b="1" i="0" u="none" strike="noStrike" cap="none" dirty="0">
                <a:solidFill>
                  <a:schemeClr val="dk1"/>
                </a:solidFill>
                <a:latin typeface="Google Sans"/>
                <a:ea typeface="Google Sans"/>
                <a:cs typeface="Google Sans"/>
                <a:sym typeface="Google Sans"/>
              </a:rPr>
              <a:t> </a:t>
            </a:r>
          </a:p>
          <a:p>
            <a:pPr marL="171450" lvl="0" indent="-171450">
              <a:buFont typeface="Arial" panose="020B0604020202020204" pitchFamily="34" charset="0"/>
              <a:buChar char="•"/>
            </a:pPr>
            <a:r>
              <a:rPr lang="en-IN" sz="1100" dirty="0"/>
              <a:t>Overly complex UI navigation, nested categories, and constant pop-ups.</a:t>
            </a:r>
          </a:p>
          <a:p>
            <a:pPr marL="171450" lvl="0" indent="-171450">
              <a:buFont typeface="Arial" panose="020B0604020202020204" pitchFamily="34" charset="0"/>
              <a:buChar char="•"/>
            </a:pPr>
            <a:r>
              <a:rPr lang="en-IN" sz="1100" dirty="0"/>
              <a:t>Ambiguous or hard-to-find return and refund policies.</a:t>
            </a:r>
          </a:p>
          <a:p>
            <a:pPr marL="171450" lvl="0" indent="-171450">
              <a:buFont typeface="Arial" panose="020B0604020202020204" pitchFamily="34" charset="0"/>
              <a:buChar char="•"/>
            </a:pPr>
            <a:r>
              <a:rPr lang="en-IN" sz="1100" dirty="0"/>
              <a:t>Unresponsive customer support when processing exchange requests.</a:t>
            </a:r>
          </a:p>
          <a:p>
            <a:pPr marL="171450" lvl="0" indent="-171450">
              <a:buFont typeface="Arial" panose="020B0604020202020204" pitchFamily="34" charset="0"/>
              <a:buChar char="•"/>
            </a:pPr>
            <a:r>
              <a:rPr lang="en-IN" sz="1100" dirty="0"/>
              <a:t>Tiny fonts or non-intuitive product pages.</a:t>
            </a:r>
            <a:r>
              <a:rPr lang="en-US" sz="1100" dirty="0">
                <a:solidFill>
                  <a:schemeClr val="dk1"/>
                </a:solidFill>
                <a:latin typeface="Google Sans"/>
                <a:ea typeface="Google Sans"/>
                <a:cs typeface="Google Sans"/>
                <a:sym typeface="Google Sans"/>
              </a:rPr>
              <a:t> </a:t>
            </a:r>
          </a:p>
        </p:txBody>
      </p:sp>
      <p:sp>
        <p:nvSpPr>
          <p:cNvPr id="61" name="Google Shape;61;p13">
            <a:extLst>
              <a:ext uri="{FF2B5EF4-FFF2-40B4-BE49-F238E27FC236}">
                <a16:creationId xmlns:a16="http://schemas.microsoft.com/office/drawing/2014/main" id="{6E7719B5-ABB6-EE88-C063-00811B57723F}"/>
              </a:ext>
            </a:extLst>
          </p:cNvPr>
          <p:cNvSpPr txBox="1"/>
          <p:nvPr/>
        </p:nvSpPr>
        <p:spPr>
          <a:xfrm>
            <a:off x="3651375" y="3547775"/>
            <a:ext cx="5197800" cy="1242300"/>
          </a:xfrm>
          <a:prstGeom prst="rect">
            <a:avLst/>
          </a:prstGeom>
          <a:noFill/>
          <a:ln w="28575" cap="flat" cmpd="sng">
            <a:solidFill>
              <a:srgbClr val="FFD966"/>
            </a:solidFill>
            <a:prstDash val="solid"/>
            <a:round/>
            <a:headEnd type="none" w="sm" len="sm"/>
            <a:tailEnd type="none" w="sm" len="sm"/>
          </a:ln>
        </p:spPr>
        <p:txBody>
          <a:bodyPr spcFirstLastPara="1" wrap="square" lIns="91425" tIns="91425" rIns="91425" bIns="91425" anchor="t" anchorCtr="0">
            <a:noAutofit/>
          </a:bodyPr>
          <a:lstStyle/>
          <a:p>
            <a:pPr lvl="0">
              <a:buSzPts val="1400"/>
            </a:pPr>
            <a:r>
              <a:rPr lang="en-IN" sz="1200" i="0" u="none" strike="noStrike" cap="none" dirty="0">
                <a:solidFill>
                  <a:srgbClr val="000000"/>
                </a:solidFill>
                <a:latin typeface="Google Sans"/>
                <a:ea typeface="Google Sans"/>
                <a:cs typeface="Google Sans"/>
                <a:sym typeface="Google Sans"/>
              </a:rPr>
              <a:t>Rajesh </a:t>
            </a:r>
            <a:r>
              <a:rPr lang="en-IN" sz="1200" dirty="0"/>
              <a:t>prefers familiar, established apps like AJIO for casual and ethnic family purchases. He values clear trust signals, straightforward layout structures, and dependable customer service. Complex app navigation and obscure return procedures create high friction, often causing him to abandon his cart in favour of physical store shopping.</a:t>
            </a:r>
            <a:endParaRPr sz="1200" i="0" u="none" strike="noStrike" cap="none" dirty="0">
              <a:solidFill>
                <a:srgbClr val="000000"/>
              </a:solidFill>
              <a:latin typeface="Google Sans"/>
              <a:ea typeface="Google Sans"/>
              <a:cs typeface="Google Sans"/>
              <a:sym typeface="Google Sans"/>
            </a:endParaRPr>
          </a:p>
        </p:txBody>
      </p:sp>
      <p:sp>
        <p:nvSpPr>
          <p:cNvPr id="62" name="Google Shape;62;p13">
            <a:extLst>
              <a:ext uri="{FF2B5EF4-FFF2-40B4-BE49-F238E27FC236}">
                <a16:creationId xmlns:a16="http://schemas.microsoft.com/office/drawing/2014/main" id="{B1D83665-1FB7-9C5D-1BAD-DCC1B0AEFB65}"/>
              </a:ext>
            </a:extLst>
          </p:cNvPr>
          <p:cNvSpPr txBox="1"/>
          <p:nvPr/>
        </p:nvSpPr>
        <p:spPr>
          <a:xfrm>
            <a:off x="985225" y="1442025"/>
            <a:ext cx="1666200" cy="79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100" dirty="0">
              <a:latin typeface="Google Sans"/>
              <a:ea typeface="Google Sans"/>
              <a:cs typeface="Google Sans"/>
              <a:sym typeface="Google Sans"/>
            </a:endParaRPr>
          </a:p>
        </p:txBody>
      </p:sp>
    </p:spTree>
    <p:extLst>
      <p:ext uri="{BB962C8B-B14F-4D97-AF65-F5344CB8AC3E}">
        <p14:creationId xmlns:p14="http://schemas.microsoft.com/office/powerpoint/2010/main" val="2872603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3017CEE0-392F-6E0A-7511-14F72DE9098F}"/>
            </a:ext>
          </a:extLst>
        </p:cNvPr>
        <p:cNvGrpSpPr/>
        <p:nvPr/>
      </p:nvGrpSpPr>
      <p:grpSpPr>
        <a:xfrm>
          <a:off x="0" y="0"/>
          <a:ext cx="0" cy="0"/>
          <a:chOff x="0" y="0"/>
          <a:chExt cx="0" cy="0"/>
        </a:xfrm>
      </p:grpSpPr>
      <p:sp>
        <p:nvSpPr>
          <p:cNvPr id="54" name="Google Shape;54;p13">
            <a:extLst>
              <a:ext uri="{FF2B5EF4-FFF2-40B4-BE49-F238E27FC236}">
                <a16:creationId xmlns:a16="http://schemas.microsoft.com/office/drawing/2014/main" id="{1309B33B-FD32-9446-7054-34D42D4DAC58}"/>
              </a:ext>
            </a:extLst>
          </p:cNvPr>
          <p:cNvSpPr/>
          <p:nvPr/>
        </p:nvSpPr>
        <p:spPr>
          <a:xfrm>
            <a:off x="451525" y="461325"/>
            <a:ext cx="2758200" cy="2758200"/>
          </a:xfrm>
          <a:prstGeom prst="rect">
            <a:avLst/>
          </a:prstGeom>
          <a:solidFill>
            <a:schemeClr val="lt2"/>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Google Sans"/>
              <a:ea typeface="Google Sans"/>
              <a:cs typeface="Google Sans"/>
              <a:sym typeface="Google Sans"/>
            </a:endParaRPr>
          </a:p>
        </p:txBody>
      </p:sp>
      <p:sp>
        <p:nvSpPr>
          <p:cNvPr id="55" name="Google Shape;55;p13">
            <a:extLst>
              <a:ext uri="{FF2B5EF4-FFF2-40B4-BE49-F238E27FC236}">
                <a16:creationId xmlns:a16="http://schemas.microsoft.com/office/drawing/2014/main" id="{3E722754-A2A7-AB16-6F14-794F1D538A1D}"/>
              </a:ext>
            </a:extLst>
          </p:cNvPr>
          <p:cNvSpPr txBox="1"/>
          <p:nvPr/>
        </p:nvSpPr>
        <p:spPr>
          <a:xfrm>
            <a:off x="451450" y="3219525"/>
            <a:ext cx="2758200" cy="471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IN" sz="1800" b="1" i="0" u="none" strike="noStrike" cap="none" dirty="0">
                <a:solidFill>
                  <a:srgbClr val="1967D2"/>
                </a:solidFill>
                <a:latin typeface="Google Sans"/>
                <a:ea typeface="Google Sans"/>
                <a:cs typeface="Google Sans"/>
                <a:sym typeface="Google Sans"/>
              </a:rPr>
              <a:t>Ishita Sharma</a:t>
            </a:r>
            <a:endParaRPr sz="1800" b="1" i="0" u="none" strike="noStrike" cap="none" dirty="0">
              <a:solidFill>
                <a:srgbClr val="1967D2"/>
              </a:solidFill>
              <a:latin typeface="Google Sans"/>
              <a:ea typeface="Google Sans"/>
              <a:cs typeface="Google Sans"/>
              <a:sym typeface="Google Sans"/>
            </a:endParaRPr>
          </a:p>
        </p:txBody>
      </p:sp>
      <p:sp>
        <p:nvSpPr>
          <p:cNvPr id="56" name="Google Shape;56;p13">
            <a:extLst>
              <a:ext uri="{FF2B5EF4-FFF2-40B4-BE49-F238E27FC236}">
                <a16:creationId xmlns:a16="http://schemas.microsoft.com/office/drawing/2014/main" id="{64A1DC35-1707-A5E7-4D47-5B5A2C8846DE}"/>
              </a:ext>
            </a:extLst>
          </p:cNvPr>
          <p:cNvSpPr txBox="1"/>
          <p:nvPr/>
        </p:nvSpPr>
        <p:spPr>
          <a:xfrm>
            <a:off x="323950" y="3614500"/>
            <a:ext cx="1501800" cy="12171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Age: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Education: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Hometown: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Family: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Occupation:</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Google Sans"/>
              <a:ea typeface="Google Sans"/>
              <a:cs typeface="Google Sans"/>
              <a:sym typeface="Google Sans"/>
            </a:endParaRPr>
          </a:p>
        </p:txBody>
      </p:sp>
      <p:sp>
        <p:nvSpPr>
          <p:cNvPr id="57" name="Google Shape;57;p13">
            <a:extLst>
              <a:ext uri="{FF2B5EF4-FFF2-40B4-BE49-F238E27FC236}">
                <a16:creationId xmlns:a16="http://schemas.microsoft.com/office/drawing/2014/main" id="{39E4FF82-222A-A79B-F19D-B4F22C063306}"/>
              </a:ext>
            </a:extLst>
          </p:cNvPr>
          <p:cNvSpPr txBox="1"/>
          <p:nvPr/>
        </p:nvSpPr>
        <p:spPr>
          <a:xfrm>
            <a:off x="1707850" y="3614500"/>
            <a:ext cx="1817400" cy="121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dirty="0">
                <a:latin typeface="Google Sans"/>
                <a:ea typeface="Google Sans"/>
                <a:cs typeface="Google Sans"/>
                <a:sym typeface="Google Sans"/>
              </a:rPr>
              <a:t>28</a:t>
            </a:r>
            <a:endParaRPr sz="1400" i="0" u="none" strike="noStrike" cap="none" dirty="0">
              <a:solidFill>
                <a:srgbClr val="000000"/>
              </a:solidFill>
              <a:latin typeface="Google Sans"/>
              <a:ea typeface="Google Sans"/>
              <a:cs typeface="Google Sans"/>
              <a:sym typeface="Google Sans"/>
            </a:endParaRPr>
          </a:p>
          <a:p>
            <a:pPr lvl="0">
              <a:buClr>
                <a:schemeClr val="dk1"/>
              </a:buClr>
              <a:buSzPts val="1100"/>
            </a:pPr>
            <a:r>
              <a:rPr lang="en-IN" dirty="0" err="1"/>
              <a:t>B.Des</a:t>
            </a:r>
            <a:r>
              <a:rPr lang="en-IN" dirty="0"/>
              <a:t> in Graphic </a:t>
            </a:r>
            <a:endParaRPr sz="1400" i="0" u="none" strike="noStrike" cap="none" dirty="0">
              <a:solidFill>
                <a:schemeClr val="dk1"/>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r>
              <a:rPr lang="en-US" dirty="0">
                <a:latin typeface="Google Sans"/>
                <a:ea typeface="Google Sans"/>
                <a:cs typeface="Google Sans"/>
                <a:sym typeface="Google Sans"/>
              </a:rPr>
              <a:t>Mumbai</a:t>
            </a:r>
            <a:endParaRPr sz="140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r>
              <a:rPr lang="en-US" sz="1400" i="0" u="none" strike="noStrike" cap="none" dirty="0">
                <a:solidFill>
                  <a:srgbClr val="000000"/>
                </a:solidFill>
                <a:latin typeface="Google Sans"/>
                <a:ea typeface="Google Sans"/>
                <a:cs typeface="Google Sans"/>
                <a:sym typeface="Google Sans"/>
              </a:rPr>
              <a:t>Lives with Parents</a:t>
            </a:r>
          </a:p>
          <a:p>
            <a:pPr lvl="0">
              <a:buSzPts val="1400"/>
            </a:pPr>
            <a:r>
              <a:rPr lang="en-IN" dirty="0"/>
              <a:t>Junior Graphic Designer</a:t>
            </a:r>
            <a:endParaRPr sz="1400" i="0" u="none" strike="noStrike" cap="none" dirty="0">
              <a:solidFill>
                <a:srgbClr val="000000"/>
              </a:solidFill>
              <a:latin typeface="Google Sans"/>
              <a:ea typeface="Google Sans"/>
              <a:cs typeface="Google Sans"/>
              <a:sym typeface="Google Sans"/>
            </a:endParaRPr>
          </a:p>
        </p:txBody>
      </p:sp>
      <p:sp>
        <p:nvSpPr>
          <p:cNvPr id="58" name="Google Shape;58;p13">
            <a:extLst>
              <a:ext uri="{FF2B5EF4-FFF2-40B4-BE49-F238E27FC236}">
                <a16:creationId xmlns:a16="http://schemas.microsoft.com/office/drawing/2014/main" id="{BE120B7C-F266-22A0-30C4-8D6B4C002793}"/>
              </a:ext>
            </a:extLst>
          </p:cNvPr>
          <p:cNvSpPr txBox="1"/>
          <p:nvPr/>
        </p:nvSpPr>
        <p:spPr>
          <a:xfrm>
            <a:off x="3587750" y="259571"/>
            <a:ext cx="5035800" cy="908700"/>
          </a:xfrm>
          <a:prstGeom prst="rect">
            <a:avLst/>
          </a:prstGeom>
          <a:noFill/>
          <a:ln>
            <a:noFill/>
          </a:ln>
        </p:spPr>
        <p:txBody>
          <a:bodyPr spcFirstLastPara="1" wrap="square" lIns="91425" tIns="91425" rIns="91425" bIns="91425" anchor="ctr" anchorCtr="0">
            <a:noAutofit/>
          </a:bodyPr>
          <a:lstStyle/>
          <a:p>
            <a:pPr lvl="0" algn="ctr">
              <a:buSzPts val="1800"/>
            </a:pPr>
            <a:r>
              <a:rPr lang="en-IN" sz="1800" i="1" dirty="0"/>
              <a:t>“Shopping should feel like scrolling through a mood board.”</a:t>
            </a:r>
            <a:endParaRPr sz="1800" i="1" u="none" strike="noStrike" cap="none" dirty="0">
              <a:solidFill>
                <a:srgbClr val="000000"/>
              </a:solidFill>
              <a:latin typeface="Google Sans"/>
              <a:ea typeface="Google Sans"/>
              <a:cs typeface="Google Sans"/>
              <a:sym typeface="Google Sans"/>
            </a:endParaRPr>
          </a:p>
        </p:txBody>
      </p:sp>
      <p:sp>
        <p:nvSpPr>
          <p:cNvPr id="59" name="Google Shape;59;p13">
            <a:extLst>
              <a:ext uri="{FF2B5EF4-FFF2-40B4-BE49-F238E27FC236}">
                <a16:creationId xmlns:a16="http://schemas.microsoft.com/office/drawing/2014/main" id="{2C42510F-7227-BA3D-EA29-35045DF71D29}"/>
              </a:ext>
            </a:extLst>
          </p:cNvPr>
          <p:cNvSpPr txBox="1"/>
          <p:nvPr/>
        </p:nvSpPr>
        <p:spPr>
          <a:xfrm>
            <a:off x="3582950" y="1290246"/>
            <a:ext cx="25227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900"/>
              <a:buFont typeface="Arial"/>
              <a:buNone/>
            </a:pPr>
            <a:r>
              <a:rPr lang="en" sz="1900" b="1" i="0" u="none" strike="noStrike" cap="none" dirty="0">
                <a:solidFill>
                  <a:srgbClr val="196702"/>
                </a:solidFill>
                <a:latin typeface="Google Sans"/>
                <a:ea typeface="Google Sans"/>
                <a:cs typeface="Google Sans"/>
                <a:sym typeface="Google Sans"/>
              </a:rPr>
              <a:t>Goals</a:t>
            </a:r>
            <a:r>
              <a:rPr lang="en" sz="1800" i="0" u="none" strike="noStrike" cap="none" dirty="0">
                <a:solidFill>
                  <a:srgbClr val="000000"/>
                </a:solidFill>
                <a:latin typeface="Google Sans"/>
                <a:ea typeface="Google Sans"/>
                <a:cs typeface="Google Sans"/>
                <a:sym typeface="Google Sans"/>
              </a:rPr>
              <a:t> </a:t>
            </a:r>
            <a:endParaRPr sz="1800" i="0" u="none" strike="noStrike" cap="none" dirty="0">
              <a:solidFill>
                <a:srgbClr val="000000"/>
              </a:solidFill>
              <a:latin typeface="Google Sans"/>
              <a:ea typeface="Google Sans"/>
              <a:cs typeface="Google Sans"/>
              <a:sym typeface="Google Sans"/>
            </a:endParaRPr>
          </a:p>
          <a:p>
            <a:pPr marL="171450" lvl="0" indent="-171450">
              <a:buFont typeface="Arial" panose="020B0604020202020204" pitchFamily="34" charset="0"/>
              <a:buChar char="•"/>
            </a:pPr>
            <a:r>
              <a:rPr lang="en-IN" sz="1100" dirty="0"/>
              <a:t>Browse visually rich feeds for fashion inspiration and casual impulse buys.</a:t>
            </a:r>
          </a:p>
          <a:p>
            <a:pPr marL="171450" lvl="0" indent="-171450">
              <a:buFont typeface="Arial" panose="020B0604020202020204" pitchFamily="34" charset="0"/>
              <a:buChar char="•"/>
            </a:pPr>
            <a:r>
              <a:rPr lang="en-IN" sz="1100" dirty="0"/>
              <a:t>Use interactive features like "Shop the Look" and style suggestions.</a:t>
            </a:r>
          </a:p>
          <a:p>
            <a:pPr marL="171450" lvl="0" indent="-171450">
              <a:buFont typeface="Arial" panose="020B0604020202020204" pitchFamily="34" charset="0"/>
              <a:buChar char="•"/>
            </a:pPr>
            <a:r>
              <a:rPr lang="en-IN" sz="1100" dirty="0"/>
              <a:t>Save items easily to curated collections or personal wish lists</a:t>
            </a:r>
          </a:p>
          <a:p>
            <a:pPr marL="171450" indent="-171450">
              <a:buFont typeface="Arial" panose="020B0604020202020204" pitchFamily="34" charset="0"/>
              <a:buChar char="•"/>
            </a:pPr>
            <a:r>
              <a:rPr lang="en-IN" sz="1100" dirty="0"/>
              <a:t>Enjoy a smooth, fluid mobile layout with high-resolution visual previews.</a:t>
            </a:r>
          </a:p>
          <a:p>
            <a:pPr lvl="0"/>
            <a:endParaRPr lang="en-IN" sz="1100" dirty="0"/>
          </a:p>
        </p:txBody>
      </p:sp>
      <p:sp>
        <p:nvSpPr>
          <p:cNvPr id="60" name="Google Shape;60;p13">
            <a:extLst>
              <a:ext uri="{FF2B5EF4-FFF2-40B4-BE49-F238E27FC236}">
                <a16:creationId xmlns:a16="http://schemas.microsoft.com/office/drawing/2014/main" id="{1CE34866-F163-7ADD-BDBC-F3458FB5116C}"/>
              </a:ext>
            </a:extLst>
          </p:cNvPr>
          <p:cNvSpPr txBox="1"/>
          <p:nvPr/>
        </p:nvSpPr>
        <p:spPr>
          <a:xfrm>
            <a:off x="6326475" y="1290246"/>
            <a:ext cx="25227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900" b="1" i="0" u="none" strike="noStrike" cap="none" dirty="0">
                <a:solidFill>
                  <a:srgbClr val="C5221F"/>
                </a:solidFill>
                <a:latin typeface="Google Sans"/>
                <a:ea typeface="Google Sans"/>
                <a:cs typeface="Google Sans"/>
                <a:sym typeface="Google Sans"/>
              </a:rPr>
              <a:t>Frustrations</a:t>
            </a:r>
            <a:r>
              <a:rPr lang="en" sz="1800" b="1" i="0" u="none" strike="noStrike" cap="none" dirty="0">
                <a:solidFill>
                  <a:schemeClr val="dk1"/>
                </a:solidFill>
                <a:latin typeface="Google Sans"/>
                <a:ea typeface="Google Sans"/>
                <a:cs typeface="Google Sans"/>
                <a:sym typeface="Google Sans"/>
              </a:rPr>
              <a:t> </a:t>
            </a:r>
          </a:p>
          <a:p>
            <a:pPr marL="171450" lvl="0" indent="-171450">
              <a:buFont typeface="Arial" panose="020B0604020202020204" pitchFamily="34" charset="0"/>
              <a:buChar char="•"/>
            </a:pPr>
            <a:r>
              <a:rPr lang="en-IN" sz="1100" dirty="0"/>
              <a:t>Slow image load times and laggy vertical scrolling during peak hours.</a:t>
            </a:r>
          </a:p>
          <a:p>
            <a:pPr marL="171450" lvl="0" indent="-171450">
              <a:buFont typeface="Arial" panose="020B0604020202020204" pitchFamily="34" charset="0"/>
              <a:buChar char="•"/>
            </a:pPr>
            <a:r>
              <a:rPr lang="en-IN" sz="1100" dirty="0"/>
              <a:t>Items selling out while saved in the cart or wish list.</a:t>
            </a:r>
          </a:p>
          <a:p>
            <a:pPr marL="171450" lvl="0" indent="-171450">
              <a:buFont typeface="Arial" panose="020B0604020202020204" pitchFamily="34" charset="0"/>
              <a:buChar char="•"/>
            </a:pPr>
            <a:r>
              <a:rPr lang="en-IN" sz="1100" dirty="0"/>
              <a:t>Text-heavy product pages with poor-quality visual assets.</a:t>
            </a:r>
          </a:p>
          <a:p>
            <a:pPr marL="171450" lvl="0" indent="-171450">
              <a:buFont typeface="Arial" panose="020B0604020202020204" pitchFamily="34" charset="0"/>
              <a:buChar char="•"/>
            </a:pPr>
            <a:r>
              <a:rPr lang="en-IN" sz="1100" dirty="0"/>
              <a:t>Interrupted browsing flows caused by abrupt login modal pop-ups.</a:t>
            </a:r>
          </a:p>
        </p:txBody>
      </p:sp>
      <p:sp>
        <p:nvSpPr>
          <p:cNvPr id="61" name="Google Shape;61;p13">
            <a:extLst>
              <a:ext uri="{FF2B5EF4-FFF2-40B4-BE49-F238E27FC236}">
                <a16:creationId xmlns:a16="http://schemas.microsoft.com/office/drawing/2014/main" id="{3D49B51D-226E-CA17-B17B-DDD6552208DD}"/>
              </a:ext>
            </a:extLst>
          </p:cNvPr>
          <p:cNvSpPr txBox="1"/>
          <p:nvPr/>
        </p:nvSpPr>
        <p:spPr>
          <a:xfrm>
            <a:off x="3651375" y="3547775"/>
            <a:ext cx="5197800" cy="1242300"/>
          </a:xfrm>
          <a:prstGeom prst="rect">
            <a:avLst/>
          </a:prstGeom>
          <a:noFill/>
          <a:ln w="28575" cap="flat" cmpd="sng">
            <a:solidFill>
              <a:srgbClr val="FFD966"/>
            </a:solidFill>
            <a:prstDash val="solid"/>
            <a:round/>
            <a:headEnd type="none" w="sm" len="sm"/>
            <a:tailEnd type="none" w="sm" len="sm"/>
          </a:ln>
        </p:spPr>
        <p:txBody>
          <a:bodyPr spcFirstLastPara="1" wrap="square" lIns="91425" tIns="91425" rIns="91425" bIns="91425" anchor="t" anchorCtr="0">
            <a:noAutofit/>
          </a:bodyPr>
          <a:lstStyle/>
          <a:p>
            <a:pPr lvl="0">
              <a:buSzPts val="1400"/>
            </a:pPr>
            <a:r>
              <a:rPr lang="en-IN" sz="1200" i="0" u="none" strike="noStrike" cap="none" dirty="0">
                <a:solidFill>
                  <a:srgbClr val="000000"/>
                </a:solidFill>
                <a:latin typeface="Google Sans"/>
                <a:ea typeface="Google Sans"/>
                <a:cs typeface="Google Sans"/>
                <a:sym typeface="Google Sans"/>
              </a:rPr>
              <a:t>Ishita </a:t>
            </a:r>
            <a:r>
              <a:rPr lang="en-IN" sz="1200" dirty="0"/>
              <a:t>uses Savana during her downtime as a visual outlet, treating fashion browsing like social media. She responds strongly to aesthetic presentation, dynamic styling suggestions, and smooth touch interactions. Slow loading speeds, poor image quality, and clunky user flows break her immersion and immediately halt her impulse purchases.</a:t>
            </a:r>
            <a:endParaRPr sz="1200" i="0" u="none" strike="noStrike" cap="none" dirty="0">
              <a:solidFill>
                <a:srgbClr val="000000"/>
              </a:solidFill>
              <a:latin typeface="Google Sans"/>
              <a:ea typeface="Google Sans"/>
              <a:cs typeface="Google Sans"/>
              <a:sym typeface="Google Sans"/>
            </a:endParaRPr>
          </a:p>
        </p:txBody>
      </p:sp>
      <p:sp>
        <p:nvSpPr>
          <p:cNvPr id="62" name="Google Shape;62;p13">
            <a:extLst>
              <a:ext uri="{FF2B5EF4-FFF2-40B4-BE49-F238E27FC236}">
                <a16:creationId xmlns:a16="http://schemas.microsoft.com/office/drawing/2014/main" id="{52C03930-485F-313C-C6F6-66CD12D11402}"/>
              </a:ext>
            </a:extLst>
          </p:cNvPr>
          <p:cNvSpPr txBox="1"/>
          <p:nvPr/>
        </p:nvSpPr>
        <p:spPr>
          <a:xfrm>
            <a:off x="985225" y="1442025"/>
            <a:ext cx="1666200" cy="79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100" dirty="0">
              <a:latin typeface="Google Sans"/>
              <a:ea typeface="Google Sans"/>
              <a:cs typeface="Google Sans"/>
              <a:sym typeface="Google Sans"/>
            </a:endParaRPr>
          </a:p>
        </p:txBody>
      </p:sp>
    </p:spTree>
    <p:extLst>
      <p:ext uri="{BB962C8B-B14F-4D97-AF65-F5344CB8AC3E}">
        <p14:creationId xmlns:p14="http://schemas.microsoft.com/office/powerpoint/2010/main" val="1302130208"/>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653</TotalTime>
  <Words>931</Words>
  <Application>Microsoft Office PowerPoint</Application>
  <PresentationFormat>On-screen Show (16:9)</PresentationFormat>
  <Paragraphs>119</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Google Sans</vt:lpstr>
      <vt:lpstr>Arial</vt:lpstr>
      <vt:lpstr>Simple Light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JINU JAIN</dc:creator>
  <cp:lastModifiedBy>Bhavika Rane</cp:lastModifiedBy>
  <cp:revision>2</cp:revision>
  <dcterms:modified xsi:type="dcterms:W3CDTF">2026-08-05T12:03:12Z</dcterms:modified>
</cp:coreProperties>
</file>